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38eced5c-53b7-5a1d-b22f-65bd325bec3c}">
          <p14:sldIdLst>
            <p14:sldId id="256"/>
          </p14:sldIdLst>
        </p14:section>
        <p14:section name="Problem and insight" id="{31ceb639-b3db-608e-1270-529e44ea4a02}">
          <p14:sldIdLst>
            <p14:sldId id="257"/>
            <p14:sldId id="258"/>
          </p14:sldIdLst>
        </p14:section>
        <p14:section name="Demo" id="{eacc8567-9677-04d6-9ba1-cd6c8c25e191}">
          <p14:sldIdLst>
            <p14:sldId id="259"/>
          </p14:sldIdLst>
        </p14:section>
        <p14:section name="Product" id="{f4af5bc4-a952-cf37-0baa-cd404b0a2adb}">
          <p14:sldIdLst>
            <p14:sldId id="260"/>
            <p14:sldId id="261"/>
          </p14:sldIdLst>
        </p14:section>
        <p14:section name="Business and roadmap" id="{7a162c79-472c-a745-4f59-98a4ceed5dc7}">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April, one forged message created 292 million dollars from nothing. KIRCHHOFF is a Cross-Chain Verifier for Chainlink CCIP 2.0. Every bridge checks who signed. We check if the money adds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April 18, attackers forged one LayerZero message and released about 116,500 rsETH, roughly 292 million dollars, from Kelp DAO's bridge. It passed because the bridge trusted a single verifier. Holders on 20 chains lost value without touching Kelp, and bridge exploits drained over 340 million dollars across 14 incidents this year. A simple sum would have exposed the fake supply the moment it appeared.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rules, named after Kirchhoff's circuit laws. The Junction Rule is per message and exact: every mint or release must match one finalized burn or lock with the same message id, amount and recipient. A credit with no debit is forged, which catches the Kelp pattern on the first transaction. The Loop Rule is global: home escrow must cover the supply on every remote chain plus everything in flight. A deficit means value was created from nothing, whichever bridge did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recording. 0:15 kETH on three chains, a normal CCIP transfer passes. 0:35 the Kelp attack on a bridge with a single verifier. 1:05 in the same CRE run, KIRCHHOFF finds a credit with no debit and writes BREACH on all three chains. 1:25 the attacker tries to spread it through CCIP and is refused. 1:50 he cannot move it, and nobody will lend against it. 2:05 on-call gets the whole story in one screen. Everything shown is a testnet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The CRE Conservation Engine reads every chain with DON consensus and writes signed reports to a ConservationLedger and Conservation Feed on every chain. CCIP 2.0 enforces: each CCV cell runs our Judge as its policy hook, and our KirchhoffTokenPool, Fallback B, reverts transfers of a broken token at execution time. The Chainlink Committee Verifier still signs every message. The control plane, the UI, API and AI, only mirrors onchain state and can go offline without changing a single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CCIP 2.0 launched on September 28 and lets an issuer require its own Cross-Chain Verifier: both the Committee Verifier and ours must sign before a message executes. CRE gives us DON consensus reads across chains, so no single RPC or operator can produce a verdict. We sit beside the Committee Verifier and never replace it. Honest status: live CCV attestation onboarding is pending, so our KirchhoffTokenPool enforces live on CCIP testnet lanes, and CRE deploy access is pending, so the four workflows run through cre workflow simulate.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revenue lines. A CCV verification fee per protected message, which CCIP 2.0 lets third-party verifiers set on top of the base fee. An issuer subscription for monitoring, the Incident Room, Spec Copilot onboarding and backtests. And the Conservation Feed: free and public, with a paid SLA tier for lending markets. First customers are multi-chain LRT, LST and wrapped BTC issuers. The wedge is free shadow mode with a public status page. Pricing is a hypothesis we will validate with design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name our limits. KIRCHHOFF does not catch theft that keeps supply conserved, like a drained admin vault, nor price manipulation, phishing or lending bugs, and it cannot undo the first release on a bridge it does not sit on; it contains it within one CRE run. Next 90 days: harden, book an audit, sign two issuer design partners, then run shadow mode on mainnet until we show 60 days with zero false BROKEN. Then enforcement with a 4-cell committee, the feed in money markets, and institutional issuers. Our ask: CCV marketplace onboarding and CRE deploy access from Chainlink, two issuer design partners, and lending markets that read the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KIRCHHOFF-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KIRCHHOFF-Conten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KIRCHHOFF-Media-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IRCHHOFF 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IRCHHOFF 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68096"/>
            <a:ext cx="11094415" cy="713232"/>
          </a:xfrm>
          <a:prstGeom prst="rect">
            <a:avLst/>
          </a:prstGeom>
          <a:noFill/>
          <a:ln/>
        </p:spPr>
        <p:txBody>
          <a:bodyPr wrap="square" rtlCol="0"/>
          <a:lstStyle>
            <a:lvl1pPr algn="l" indent="0" marL="0">
              <a:buNone/>
              <a:defRPr lang="en-US" sz="3600" dirty="0">
                <a:solidFill>
                  <a:srgbClr val="E7EAEE"/>
                </a:solidFill>
                <a:latin typeface="Inter SemiBold" pitchFamily="34" charset="0"/>
                <a:ea typeface="Inter SemiBold" pitchFamily="34" charset="-122"/>
                <a:cs typeface="Inter SemiBold" pitchFamily="34" charset="-120"/>
              </a:defRPr>
            </a:lvl1pPr>
          </a:lstStyle>
          <a:p>
            <a:pPr algn="l" indent="0" marL="0">
              <a:buNone/>
            </a:pPr>
            <a:endParaRPr lang="en-US" sz="3600" dirty="0"/>
          </a:p>
        </p:txBody>
      </p:sp>
      <p:sp>
        <p:nvSpPr>
          <p:cNvPr id="3" name="Text 0"/>
          <p:cNvSpPr/>
          <p:nvPr/>
        </p:nvSpPr>
        <p:spPr>
          <a:xfrm>
            <a:off x="548640" y="6382512"/>
            <a:ext cx="2743200" cy="228600"/>
          </a:xfrm>
          <a:prstGeom prst="rect">
            <a:avLst/>
          </a:prstGeom>
          <a:noFill/>
          <a:ln/>
        </p:spPr>
        <p:txBody>
          <a:bodyPr wrap="square" lIns="0" tIns="0" rIns="0" bIns="0" rtlCol="0" anchor="ctr"/>
          <a:lstStyle/>
          <a:p>
            <a:pPr indent="0" marL="0">
              <a:buNone/>
            </a:pPr>
            <a:r>
              <a:rPr lang="en-US" sz="1000" b="1" spc="300" kern="0" dirty="0">
                <a:solidFill>
                  <a:srgbClr val="7D8693"/>
                </a:solidFill>
                <a:latin typeface="JetBrains Mono" pitchFamily="34" charset="0"/>
                <a:ea typeface="JetBrains Mono" pitchFamily="34" charset="-122"/>
                <a:cs typeface="JetBrains Mono" pitchFamily="34" charset="-120"/>
              </a:rPr>
              <a:t>KIRCHHOFF</a:t>
            </a:r>
            <a:endParaRPr lang="en-US" sz="1000" dirty="0"/>
          </a:p>
        </p:txBody>
      </p:sp>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IRCHHOFF Medi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417320"/>
            <a:ext cx="7315200" cy="274320"/>
          </a:xfrm>
          <a:prstGeom prst="rect">
            <a:avLst/>
          </a:prstGeom>
          <a:noFill/>
          <a:ln/>
        </p:spPr>
        <p:txBody>
          <a:bodyPr wrap="square" lIns="0" tIns="0" rIns="0" bIns="0" rtlCol="0" anchor="t"/>
          <a:lstStyle/>
          <a:p>
            <a:pPr algn="l" indent="0" marL="0">
              <a:lnSpc>
                <a:spcPct val="112000"/>
              </a:lnSpc>
              <a:buNone/>
            </a:pPr>
            <a:r>
              <a:rPr lang="en-US" sz="1200" b="1" spc="300" kern="0" dirty="0">
                <a:solidFill>
                  <a:srgbClr val="2DD4BF"/>
                </a:solidFill>
                <a:latin typeface="JetBrains Mono" pitchFamily="34" charset="0"/>
                <a:ea typeface="JetBrains Mono" pitchFamily="34" charset="-122"/>
                <a:cs typeface="JetBrains Mono" pitchFamily="34" charset="-120"/>
              </a:rPr>
              <a:t>CROSS-CHAIN VERIFIER FOR CHAINLINK CCIP 2.0</a:t>
            </a:r>
            <a:endParaRPr lang="en-US" sz="1200" dirty="0"/>
          </a:p>
        </p:txBody>
      </p:sp>
      <p:sp>
        <p:nvSpPr>
          <p:cNvPr id="3" name="Text 1"/>
          <p:cNvSpPr txBox="1"/>
          <p:nvPr/>
        </p:nvSpPr>
        <p:spPr>
          <a:xfrm>
            <a:off x="512064" y="1828800"/>
            <a:ext cx="7680960" cy="1143000"/>
          </a:xfrm>
          <a:prstGeom prst="rect">
            <a:avLst/>
          </a:prstGeom>
          <a:noFill/>
          <a:ln/>
        </p:spPr>
        <p:txBody>
          <a:bodyPr wrap="square" lIns="0" tIns="0" rIns="0" bIns="0" rtlCol="0" anchor="ctr"/>
          <a:lstStyle/>
          <a:p>
            <a:pPr algn="l" indent="0" marL="0">
              <a:lnSpc>
                <a:spcPct val="100000"/>
              </a:lnSpc>
              <a:buNone/>
            </a:pPr>
            <a:r>
              <a:rPr lang="en-US" sz="8000" b="1" spc="600" kern="0" dirty="0">
                <a:solidFill>
                  <a:srgbClr val="E7EAEE"/>
                </a:solidFill>
                <a:latin typeface="JetBrains Mono" pitchFamily="34" charset="0"/>
                <a:ea typeface="JetBrains Mono" pitchFamily="34" charset="-122"/>
                <a:cs typeface="JetBrains Mono" pitchFamily="34" charset="-120"/>
              </a:rPr>
              <a:t>KIRCHHOFF</a:t>
            </a:r>
            <a:endParaRPr lang="en-US" sz="8000" dirty="0"/>
          </a:p>
        </p:txBody>
      </p:sp>
      <p:sp>
        <p:nvSpPr>
          <p:cNvPr id="4" name="Text 2"/>
          <p:cNvSpPr txBox="1"/>
          <p:nvPr/>
        </p:nvSpPr>
        <p:spPr>
          <a:xfrm>
            <a:off x="548640" y="3383280"/>
            <a:ext cx="7498080" cy="1143000"/>
          </a:xfrm>
          <a:prstGeom prst="rect">
            <a:avLst/>
          </a:prstGeom>
          <a:noFill/>
          <a:ln/>
        </p:spPr>
        <p:txBody>
          <a:bodyPr wrap="square" lIns="0" tIns="0" rIns="0" bIns="0" rtlCol="0" anchor="t"/>
          <a:lstStyle/>
          <a:p>
            <a:pPr algn="l" indent="0" marL="0">
              <a:lnSpc>
                <a:spcPct val="108000"/>
              </a:lnSpc>
              <a:buNone/>
            </a:pPr>
            <a:r>
              <a:rPr lang="en-US" sz="3200" dirty="0">
                <a:solidFill>
                  <a:srgbClr val="E7EAEE"/>
                </a:solidFill>
                <a:latin typeface="Inter SemiBold" pitchFamily="34" charset="0"/>
                <a:ea typeface="Inter SemiBold" pitchFamily="34" charset="-122"/>
                <a:cs typeface="Inter SemiBold" pitchFamily="34" charset="-120"/>
              </a:rPr>
              <a:t>Every bridge checks who signed.</a:t>
            </a:r>
            <a:endParaRPr lang="en-US" sz="3200" dirty="0"/>
          </a:p>
          <a:p>
            <a:pPr algn="l" indent="0" marL="0">
              <a:lnSpc>
                <a:spcPct val="108000"/>
              </a:lnSpc>
              <a:buNone/>
            </a:pPr>
            <a:r>
              <a:rPr lang="en-US" sz="3200" dirty="0">
                <a:solidFill>
                  <a:srgbClr val="2DD4BF"/>
                </a:solidFill>
                <a:latin typeface="Inter SemiBold" pitchFamily="34" charset="0"/>
                <a:ea typeface="Inter SemiBold" pitchFamily="34" charset="-122"/>
                <a:cs typeface="Inter SemiBold" pitchFamily="34" charset="-120"/>
              </a:rPr>
              <a:t>We check if the money adds up.</a:t>
            </a:r>
            <a:endParaRPr lang="en-US" sz="3200" dirty="0"/>
          </a:p>
        </p:txBody>
      </p:sp>
      <p:sp>
        <p:nvSpPr>
          <p:cNvPr id="5" name="Text 3"/>
          <p:cNvSpPr txBox="1"/>
          <p:nvPr/>
        </p:nvSpPr>
        <p:spPr>
          <a:xfrm>
            <a:off x="548640" y="5989320"/>
            <a:ext cx="7315200" cy="274320"/>
          </a:xfrm>
          <a:prstGeom prst="rect">
            <a:avLst/>
          </a:prstGeom>
          <a:noFill/>
          <a:ln/>
        </p:spPr>
        <p:txBody>
          <a:bodyPr wrap="square" lIns="0" tIns="0" rIns="0" bIns="0" rtlCol="0" anchor="t"/>
          <a:lstStyle/>
          <a:p>
            <a:pPr algn="l" indent="0" marL="0">
              <a:lnSpc>
                <a:spcPct val="112000"/>
              </a:lnSpc>
              <a:buNone/>
            </a:pPr>
            <a:r>
              <a:rPr lang="en-US" sz="1100" spc="200" kern="0" dirty="0">
                <a:solidFill>
                  <a:srgbClr val="7D8693"/>
                </a:solidFill>
                <a:latin typeface="JetBrains Mono" pitchFamily="34" charset="0"/>
                <a:ea typeface="JetBrains Mono" pitchFamily="34" charset="-122"/>
                <a:cs typeface="JetBrains Mono" pitchFamily="34" charset="-120"/>
              </a:rPr>
              <a:t>TOKEN2049 ORIGINS  ·  SINGAPORE  ·  OCTOBER 2026</a:t>
            </a:r>
            <a:endParaRPr lang="en-US" sz="1100" dirty="0"/>
          </a:p>
        </p:txBody>
      </p:sp>
      <p:sp>
        <p:nvSpPr>
          <p:cNvPr id="6" name="Shape 4"/>
          <p:cNvSpPr/>
          <p:nvPr/>
        </p:nvSpPr>
        <p:spPr>
          <a:xfrm>
            <a:off x="8276749" y="1601629"/>
            <a:ext cx="2923223" cy="2923223"/>
          </a:xfrm>
          <a:prstGeom prst="roundRect">
            <a:avLst>
              <a:gd name="adj" fmla="val 25806"/>
            </a:avLst>
          </a:prstGeom>
          <a:solidFill>
            <a:srgbClr val="181C22"/>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7" name="Shape 5"/>
          <p:cNvSpPr/>
          <p:nvPr/>
        </p:nvSpPr>
        <p:spPr>
          <a:xfrm>
            <a:off x="8842534" y="2356009"/>
            <a:ext cx="895826" cy="707231"/>
          </a:xfrm>
          <a:prstGeom prst="line">
            <a:avLst/>
          </a:prstGeom>
          <a:noFill/>
          <a:ln w="50800">
            <a:solidFill>
              <a:srgbClr val="E7EAEE"/>
            </a:solidFill>
            <a:prstDash val="solid"/>
          </a:ln>
        </p:spPr>
      </p:sp>
      <p:sp>
        <p:nvSpPr>
          <p:cNvPr id="8" name="Shape 6"/>
          <p:cNvSpPr/>
          <p:nvPr/>
        </p:nvSpPr>
        <p:spPr>
          <a:xfrm flipH="1">
            <a:off x="9738360" y="2356009"/>
            <a:ext cx="895826" cy="707231"/>
          </a:xfrm>
          <a:prstGeom prst="line">
            <a:avLst/>
          </a:prstGeom>
          <a:noFill/>
          <a:ln w="50800">
            <a:solidFill>
              <a:srgbClr val="E7EAEE"/>
            </a:solidFill>
            <a:prstDash val="solid"/>
          </a:ln>
        </p:spPr>
      </p:sp>
      <p:sp>
        <p:nvSpPr>
          <p:cNvPr id="9" name="Shape 7"/>
          <p:cNvSpPr/>
          <p:nvPr/>
        </p:nvSpPr>
        <p:spPr>
          <a:xfrm flipV="1">
            <a:off x="9738360" y="3063240"/>
            <a:ext cx="91" cy="942975"/>
          </a:xfrm>
          <a:prstGeom prst="line">
            <a:avLst/>
          </a:prstGeom>
          <a:noFill/>
          <a:ln w="50800">
            <a:solidFill>
              <a:srgbClr val="E7EAEE"/>
            </a:solidFill>
            <a:prstDash val="solid"/>
          </a:ln>
        </p:spPr>
      </p:sp>
      <p:sp>
        <p:nvSpPr>
          <p:cNvPr id="10" name="Shape 8"/>
          <p:cNvSpPr/>
          <p:nvPr/>
        </p:nvSpPr>
        <p:spPr>
          <a:xfrm>
            <a:off x="8691658" y="2205133"/>
            <a:ext cx="301752" cy="301752"/>
          </a:xfrm>
          <a:prstGeom prst="ellipse">
            <a:avLst/>
          </a:prstGeom>
          <a:solidFill>
            <a:srgbClr val="9AA3AF"/>
          </a:solidFill>
          <a:ln/>
        </p:spPr>
      </p:sp>
      <p:sp>
        <p:nvSpPr>
          <p:cNvPr id="11" name="Shape 9"/>
          <p:cNvSpPr/>
          <p:nvPr/>
        </p:nvSpPr>
        <p:spPr>
          <a:xfrm>
            <a:off x="10483310" y="2205133"/>
            <a:ext cx="301752" cy="301752"/>
          </a:xfrm>
          <a:prstGeom prst="ellipse">
            <a:avLst/>
          </a:prstGeom>
          <a:solidFill>
            <a:srgbClr val="9AA3AF"/>
          </a:solidFill>
          <a:ln/>
        </p:spPr>
      </p:sp>
      <p:sp>
        <p:nvSpPr>
          <p:cNvPr id="12" name="Shape 10"/>
          <p:cNvSpPr/>
          <p:nvPr/>
        </p:nvSpPr>
        <p:spPr>
          <a:xfrm>
            <a:off x="9587484" y="3855339"/>
            <a:ext cx="301752" cy="301752"/>
          </a:xfrm>
          <a:prstGeom prst="ellipse">
            <a:avLst/>
          </a:prstGeom>
          <a:solidFill>
            <a:srgbClr val="9AA3AF"/>
          </a:solidFill>
          <a:ln/>
        </p:spPr>
      </p:sp>
      <p:sp>
        <p:nvSpPr>
          <p:cNvPr id="13" name="Shape 11"/>
          <p:cNvSpPr/>
          <p:nvPr/>
        </p:nvSpPr>
        <p:spPr>
          <a:xfrm>
            <a:off x="9417749" y="2742628"/>
            <a:ext cx="641223" cy="641223"/>
          </a:xfrm>
          <a:prstGeom prst="ellipse">
            <a:avLst/>
          </a:prstGeom>
          <a:solidFill>
            <a:srgbClr val="2DD4BF"/>
          </a:solidFill>
          <a:ln/>
        </p:spPr>
      </p:sp>
      <p:sp>
        <p:nvSpPr>
          <p:cNvPr id="14" name="Text 12"/>
          <p:cNvSpPr txBox="1"/>
          <p:nvPr/>
        </p:nvSpPr>
        <p:spPr>
          <a:xfrm>
            <a:off x="8229600" y="4754880"/>
            <a:ext cx="3017520" cy="384048"/>
          </a:xfrm>
          <a:prstGeom prst="rect">
            <a:avLst/>
          </a:prstGeom>
          <a:noFill/>
          <a:ln/>
        </p:spPr>
        <p:txBody>
          <a:bodyPr wrap="square" lIns="0" tIns="0" rIns="0" bIns="0" rtlCol="0" anchor="ctr"/>
          <a:lstStyle/>
          <a:p>
            <a:pPr algn="ctr" indent="0" marL="0">
              <a:lnSpc>
                <a:spcPct val="112000"/>
              </a:lnSpc>
              <a:buNone/>
            </a:pPr>
            <a:r>
              <a:rPr lang="en-US" sz="2000" dirty="0">
                <a:solidFill>
                  <a:srgbClr val="E7EAEE"/>
                </a:solidFill>
                <a:latin typeface="JetBrains Mono" pitchFamily="34" charset="0"/>
                <a:ea typeface="JetBrains Mono" pitchFamily="34" charset="-122"/>
                <a:cs typeface="JetBrains Mono" pitchFamily="34" charset="-120"/>
              </a:rPr>
              <a:t>Σ in  =  Σ out</a:t>
            </a:r>
            <a:endParaRPr lang="en-US" sz="2000" dirty="0"/>
          </a:p>
        </p:txBody>
      </p:sp>
      <p:sp>
        <p:nvSpPr>
          <p:cNvPr id="15" name="Shape 13"/>
          <p:cNvSpPr/>
          <p:nvPr/>
        </p:nvSpPr>
        <p:spPr>
          <a:xfrm>
            <a:off x="9043416" y="5285232"/>
            <a:ext cx="1389888" cy="274320"/>
          </a:xfrm>
          <a:prstGeom prst="roundRect">
            <a:avLst>
              <a:gd name="adj" fmla="val 50000"/>
            </a:avLst>
          </a:prstGeom>
          <a:solidFill>
            <a:srgbClr val="0F2A28"/>
          </a:solidFill>
          <a:ln w="9525">
            <a:solidFill>
              <a:srgbClr val="1C5F57"/>
            </a:solidFill>
            <a:prstDash val="solid"/>
          </a:ln>
        </p:spPr>
      </p:sp>
      <p:sp>
        <p:nvSpPr>
          <p:cNvPr id="16" name="Shape 14"/>
          <p:cNvSpPr/>
          <p:nvPr/>
        </p:nvSpPr>
        <p:spPr>
          <a:xfrm>
            <a:off x="9162288" y="5385816"/>
            <a:ext cx="73152" cy="73152"/>
          </a:xfrm>
          <a:prstGeom prst="ellipse">
            <a:avLst/>
          </a:prstGeom>
          <a:solidFill>
            <a:srgbClr val="2DD4BF"/>
          </a:solidFill>
          <a:ln/>
        </p:spPr>
      </p:sp>
      <p:sp>
        <p:nvSpPr>
          <p:cNvPr id="17" name="Text 15"/>
          <p:cNvSpPr txBox="1"/>
          <p:nvPr/>
        </p:nvSpPr>
        <p:spPr>
          <a:xfrm>
            <a:off x="9299448" y="5285232"/>
            <a:ext cx="1097280" cy="274320"/>
          </a:xfrm>
          <a:prstGeom prst="rect">
            <a:avLst/>
          </a:prstGeom>
          <a:noFill/>
          <a:ln/>
        </p:spPr>
        <p:txBody>
          <a:bodyPr wrap="square" lIns="0" tIns="0" rIns="0" bIns="0" rtlCol="0" anchor="ctr"/>
          <a:lstStyle/>
          <a:p>
            <a:pPr algn="l" indent="0" marL="0">
              <a:lnSpc>
                <a:spcPct val="112000"/>
              </a:lnSpc>
              <a:buNone/>
            </a:pPr>
            <a:r>
              <a:rPr lang="en-US" sz="1000" b="1" spc="100" kern="0" dirty="0">
                <a:solidFill>
                  <a:srgbClr val="2DD4BF"/>
                </a:solidFill>
                <a:latin typeface="JetBrains Mono" pitchFamily="34" charset="0"/>
                <a:ea typeface="JetBrains Mono" pitchFamily="34" charset="-122"/>
                <a:cs typeface="JetBrains Mono" pitchFamily="34" charset="-120"/>
              </a:rPr>
              <a:t>CONSERVED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475488"/>
            <a:ext cx="8229600" cy="237744"/>
          </a:xfrm>
          <a:prstGeom prst="rect">
            <a:avLst/>
          </a:prstGeom>
          <a:noFill/>
          <a:ln/>
        </p:spPr>
        <p:txBody>
          <a:bodyPr wrap="square" lIns="0" tIns="0" rIns="0" bIns="0" rtlCol="0" anchor="ctr"/>
          <a:lstStyle/>
          <a:p>
            <a:pPr algn="l" indent="0" marL="0">
              <a:lnSpc>
                <a:spcPct val="112000"/>
              </a:lnSpc>
              <a:buNone/>
            </a:pPr>
            <a:r>
              <a:rPr lang="en-US" sz="1100" b="1" spc="300" kern="0" dirty="0">
                <a:solidFill>
                  <a:srgbClr val="2DD4BF"/>
                </a:solidFill>
                <a:latin typeface="JetBrains Mono" pitchFamily="34" charset="0"/>
                <a:ea typeface="JetBrains Mono" pitchFamily="34" charset="-122"/>
                <a:cs typeface="JetBrains Mono" pitchFamily="34" charset="-120"/>
              </a:rPr>
              <a:t>THE PROBLEM</a:t>
            </a:r>
            <a:endParaRPr lang="en-US" sz="1100" dirty="0"/>
          </a:p>
        </p:txBody>
      </p:sp>
      <p:sp>
        <p:nvSpPr>
          <p:cNvPr id="3" name="Text 0"/>
          <p:cNvSpPr/>
          <p:nvPr>
            <p:ph idx="100" type="title" hasCustomPrompt="1"/>
          </p:nvPr>
        </p:nvSpPr>
        <p:spPr>
          <a:xfrm>
            <a:off x="548640" y="768096"/>
            <a:ext cx="11094415" cy="713232"/>
          </a:xfrm>
          <a:prstGeom prst="rect">
            <a:avLst/>
          </a:prstGeom>
          <a:noFill/>
          <a:ln/>
        </p:spPr>
        <p:txBody>
          <a:bodyPr wrap="square" lIns="0" tIns="0" rIns="0" bIns="0" rtlCol="0" anchor="t"/>
          <a:lstStyle/>
          <a:p>
            <a:pPr algn="l" indent="0" marL="0">
              <a:buNone/>
            </a:pPr>
            <a:r>
              <a:rPr lang="en-US" sz="3600" spc="-50" kern="0" dirty="0">
                <a:solidFill>
                  <a:srgbClr val="E7EAEE"/>
                </a:solidFill>
                <a:latin typeface="Inter SemiBold" pitchFamily="34" charset="0"/>
                <a:ea typeface="Inter SemiBold" pitchFamily="34" charset="-122"/>
                <a:cs typeface="Inter SemiBold" pitchFamily="34" charset="-120"/>
              </a:rPr>
              <a:t>Bridges verify signatures. Nobody verifies supply</a:t>
            </a:r>
            <a:endParaRPr lang="en-US" sz="3600" dirty="0"/>
          </a:p>
        </p:txBody>
      </p:sp>
      <p:sp>
        <p:nvSpPr>
          <p:cNvPr id="4" name="Text 2"/>
          <p:cNvSpPr txBox="1"/>
          <p:nvPr/>
        </p:nvSpPr>
        <p:spPr>
          <a:xfrm>
            <a:off x="502920" y="1691640"/>
            <a:ext cx="6217920" cy="1600200"/>
          </a:xfrm>
          <a:prstGeom prst="rect">
            <a:avLst/>
          </a:prstGeom>
          <a:noFill/>
          <a:ln/>
        </p:spPr>
        <p:txBody>
          <a:bodyPr wrap="square" lIns="0" tIns="0" rIns="0" bIns="0" rtlCol="0" anchor="ctr"/>
          <a:lstStyle/>
          <a:p>
            <a:pPr algn="l" indent="0" marL="0">
              <a:lnSpc>
                <a:spcPct val="100000"/>
              </a:lnSpc>
              <a:buNone/>
            </a:pPr>
            <a:r>
              <a:rPr lang="en-US" sz="12000" spc="-300" kern="0" dirty="0">
                <a:solidFill>
                  <a:srgbClr val="F43F5E"/>
                </a:solidFill>
                <a:latin typeface="Inter SemiBold" pitchFamily="34" charset="0"/>
                <a:ea typeface="Inter SemiBold" pitchFamily="34" charset="-122"/>
                <a:cs typeface="Inter SemiBold" pitchFamily="34" charset="-120"/>
              </a:rPr>
              <a:t>$292M</a:t>
            </a:r>
            <a:endParaRPr lang="en-US" sz="12000" dirty="0"/>
          </a:p>
        </p:txBody>
      </p:sp>
      <p:sp>
        <p:nvSpPr>
          <p:cNvPr id="5" name="Text 3"/>
          <p:cNvSpPr txBox="1"/>
          <p:nvPr/>
        </p:nvSpPr>
        <p:spPr>
          <a:xfrm>
            <a:off x="548640" y="3401568"/>
            <a:ext cx="5852160" cy="914400"/>
          </a:xfrm>
          <a:prstGeom prst="rect">
            <a:avLst/>
          </a:prstGeom>
          <a:noFill/>
          <a:ln/>
        </p:spPr>
        <p:txBody>
          <a:bodyPr wrap="square" lIns="0" tIns="0" rIns="0" bIns="0" rtlCol="0" anchor="t"/>
          <a:lstStyle/>
          <a:p>
            <a:pPr algn="l" indent="0" marL="0">
              <a:lnSpc>
                <a:spcPct val="120000"/>
              </a:lnSpc>
              <a:buNone/>
            </a:pPr>
            <a:r>
              <a:rPr lang="en-US" sz="1800" dirty="0">
                <a:solidFill>
                  <a:srgbClr val="9AA3AF"/>
                </a:solidFill>
                <a:latin typeface="Inter" pitchFamily="34" charset="0"/>
                <a:ea typeface="Inter" pitchFamily="34" charset="-122"/>
                <a:cs typeface="Inter" pitchFamily="34" charset="-120"/>
              </a:rPr>
              <a:t>One forged message released about 116,500 rsETH from Kelp DAO's bridge on April 18, 2026.</a:t>
            </a:r>
            <a:pPr algn="l" indent="0" marL="0">
              <a:lnSpc>
                <a:spcPct val="120000"/>
              </a:lnSpc>
              <a:buNone/>
            </a:pPr>
            <a:r>
              <a:rPr lang="en-US" sz="1800" baseline="30000" dirty="0">
                <a:solidFill>
                  <a:srgbClr val="9AA3AF"/>
                </a:solidFill>
                <a:latin typeface="Inter" pitchFamily="34" charset="0"/>
                <a:ea typeface="Inter" pitchFamily="34" charset="-122"/>
                <a:cs typeface="Inter" pitchFamily="34" charset="-120"/>
              </a:rPr>
              <a:t>1</a:t>
            </a:r>
            <a:pPr algn="l" indent="0" marL="0">
              <a:lnSpc>
                <a:spcPct val="120000"/>
              </a:lnSpc>
              <a:buNone/>
            </a:pPr>
            <a:r>
              <a:rPr lang="en-US" sz="1800" dirty="0">
                <a:solidFill>
                  <a:srgbClr val="9AA3AF"/>
                </a:solidFill>
                <a:latin typeface="Inter" pitchFamily="34" charset="0"/>
                <a:ea typeface="Inter" pitchFamily="34" charset="-122"/>
                <a:cs typeface="Inter" pitchFamily="34" charset="-120"/>
              </a:rPr>
              <a:t> The bridge trusted a single verifier.</a:t>
            </a:r>
            <a:pPr algn="l" indent="0" marL="0">
              <a:lnSpc>
                <a:spcPct val="120000"/>
              </a:lnSpc>
              <a:buNone/>
            </a:pPr>
            <a:r>
              <a:rPr lang="en-US" sz="1800" baseline="30000" dirty="0">
                <a:solidFill>
                  <a:srgbClr val="9AA3AF"/>
                </a:solidFill>
                <a:latin typeface="Inter" pitchFamily="34" charset="0"/>
                <a:ea typeface="Inter" pitchFamily="34" charset="-122"/>
                <a:cs typeface="Inter" pitchFamily="34" charset="-120"/>
              </a:rPr>
              <a:t>2</a:t>
            </a:r>
            <a:endParaRPr lang="en-US" sz="1800" dirty="0"/>
          </a:p>
        </p:txBody>
      </p:sp>
      <p:sp>
        <p:nvSpPr>
          <p:cNvPr id="6" name="Text 4"/>
          <p:cNvSpPr txBox="1"/>
          <p:nvPr/>
        </p:nvSpPr>
        <p:spPr>
          <a:xfrm>
            <a:off x="548640" y="4572000"/>
            <a:ext cx="6355080" cy="731520"/>
          </a:xfrm>
          <a:prstGeom prst="rect">
            <a:avLst/>
          </a:prstGeom>
          <a:noFill/>
          <a:ln/>
        </p:spPr>
        <p:txBody>
          <a:bodyPr wrap="square" lIns="0" tIns="0" rIns="0" bIns="0" rtlCol="0" anchor="t"/>
          <a:lstStyle/>
          <a:p>
            <a:pPr algn="l" indent="0" marL="0">
              <a:lnSpc>
                <a:spcPct val="112000"/>
              </a:lnSpc>
              <a:buNone/>
            </a:pPr>
            <a:r>
              <a:rPr lang="en-US" sz="2000" dirty="0">
                <a:solidFill>
                  <a:srgbClr val="E7EAEE"/>
                </a:solidFill>
                <a:latin typeface="Inter SemiBold" pitchFamily="34" charset="0"/>
                <a:ea typeface="Inter SemiBold" pitchFamily="34" charset="-122"/>
                <a:cs typeface="Inter SemiBold" pitchFamily="34" charset="-120"/>
              </a:rPr>
              <a:t>Each of those bridges checked who signed.</a:t>
            </a:r>
            <a:endParaRPr lang="en-US" sz="2000" dirty="0"/>
          </a:p>
          <a:p>
            <a:pPr algn="l" indent="0" marL="0">
              <a:lnSpc>
                <a:spcPct val="112000"/>
              </a:lnSpc>
              <a:buNone/>
            </a:pPr>
            <a:r>
              <a:rPr lang="en-US" sz="2000" dirty="0">
                <a:solidFill>
                  <a:srgbClr val="E7EAEE"/>
                </a:solidFill>
                <a:latin typeface="Inter SemiBold" pitchFamily="34" charset="0"/>
                <a:ea typeface="Inter SemiBold" pitchFamily="34" charset="-122"/>
                <a:cs typeface="Inter SemiBold" pitchFamily="34" charset="-120"/>
              </a:rPr>
              <a:t>None checked whether the money added up.</a:t>
            </a:r>
            <a:endParaRPr lang="en-US" sz="2000" dirty="0"/>
          </a:p>
        </p:txBody>
      </p:sp>
      <p:sp>
        <p:nvSpPr>
          <p:cNvPr id="7" name="Stat chains"/>
          <p:cNvSpPr/>
          <p:nvPr/>
        </p:nvSpPr>
        <p:spPr>
          <a:xfrm>
            <a:off x="7086600" y="1783080"/>
            <a:ext cx="4556455" cy="1664208"/>
          </a:xfrm>
          <a:prstGeom prst="roundRect">
            <a:avLst>
              <a:gd name="adj" fmla="val 7692"/>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8" name="Text 6"/>
          <p:cNvSpPr txBox="1"/>
          <p:nvPr/>
        </p:nvSpPr>
        <p:spPr>
          <a:xfrm>
            <a:off x="7452360" y="2039112"/>
            <a:ext cx="3824935" cy="685800"/>
          </a:xfrm>
          <a:prstGeom prst="rect">
            <a:avLst/>
          </a:prstGeom>
          <a:noFill/>
          <a:ln/>
        </p:spPr>
        <p:txBody>
          <a:bodyPr wrap="square" lIns="0" tIns="0" rIns="0" bIns="0" rtlCol="0" anchor="ctr"/>
          <a:lstStyle/>
          <a:p>
            <a:pPr algn="l" indent="0" marL="0">
              <a:lnSpc>
                <a:spcPct val="100000"/>
              </a:lnSpc>
              <a:buNone/>
            </a:pPr>
            <a:r>
              <a:rPr lang="en-US" sz="4800" spc="-100" kern="0" dirty="0">
                <a:solidFill>
                  <a:srgbClr val="E7EAEE"/>
                </a:solidFill>
                <a:latin typeface="Inter SemiBold" pitchFamily="34" charset="0"/>
                <a:ea typeface="Inter SemiBold" pitchFamily="34" charset="-122"/>
                <a:cs typeface="Inter SemiBold" pitchFamily="34" charset="-120"/>
              </a:rPr>
              <a:t>20 chains</a:t>
            </a:r>
            <a:endParaRPr lang="en-US" sz="4800" dirty="0"/>
          </a:p>
        </p:txBody>
      </p:sp>
      <p:sp>
        <p:nvSpPr>
          <p:cNvPr id="9" name="Text 7"/>
          <p:cNvSpPr txBox="1"/>
          <p:nvPr/>
        </p:nvSpPr>
        <p:spPr>
          <a:xfrm>
            <a:off x="7452360" y="2788920"/>
            <a:ext cx="3824935" cy="502920"/>
          </a:xfrm>
          <a:prstGeom prst="rect">
            <a:avLst/>
          </a:prstGeom>
          <a:noFill/>
          <a:ln/>
        </p:spPr>
        <p:txBody>
          <a:bodyPr wrap="square" lIns="0" tIns="0" rIns="0" bIns="0" rtlCol="0" anchor="t"/>
          <a:lstStyle/>
          <a:p>
            <a:pPr algn="l" indent="0" marL="0">
              <a:lnSpc>
                <a:spcPct val="115000"/>
              </a:lnSpc>
              <a:buNone/>
            </a:pPr>
            <a:r>
              <a:rPr lang="en-US" sz="1500" dirty="0">
                <a:solidFill>
                  <a:srgbClr val="9AA3AF"/>
                </a:solidFill>
                <a:latin typeface="Inter" pitchFamily="34" charset="0"/>
                <a:ea typeface="Inter" pitchFamily="34" charset="-122"/>
                <a:cs typeface="Inter" pitchFamily="34" charset="-120"/>
              </a:rPr>
              <a:t>where rsETH holders lost value without ever touching Kelp.</a:t>
            </a:r>
            <a:pPr algn="l" indent="0" marL="0">
              <a:lnSpc>
                <a:spcPct val="115000"/>
              </a:lnSpc>
              <a:buNone/>
            </a:pPr>
            <a:r>
              <a:rPr lang="en-US" sz="1500" baseline="30000" dirty="0">
                <a:solidFill>
                  <a:srgbClr val="9AA3AF"/>
                </a:solidFill>
                <a:latin typeface="Inter" pitchFamily="34" charset="0"/>
                <a:ea typeface="Inter" pitchFamily="34" charset="-122"/>
                <a:cs typeface="Inter" pitchFamily="34" charset="-120"/>
              </a:rPr>
              <a:t>3</a:t>
            </a:r>
            <a:endParaRPr lang="en-US" sz="1500" dirty="0"/>
          </a:p>
        </p:txBody>
      </p:sp>
      <p:sp>
        <p:nvSpPr>
          <p:cNvPr id="10" name="Stat losses"/>
          <p:cNvSpPr/>
          <p:nvPr/>
        </p:nvSpPr>
        <p:spPr>
          <a:xfrm>
            <a:off x="7086600" y="3657600"/>
            <a:ext cx="4556455" cy="1664208"/>
          </a:xfrm>
          <a:prstGeom prst="roundRect">
            <a:avLst>
              <a:gd name="adj" fmla="val 7692"/>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11" name="Text 9"/>
          <p:cNvSpPr txBox="1"/>
          <p:nvPr/>
        </p:nvSpPr>
        <p:spPr>
          <a:xfrm>
            <a:off x="7452360" y="3913632"/>
            <a:ext cx="3824935" cy="685800"/>
          </a:xfrm>
          <a:prstGeom prst="rect">
            <a:avLst/>
          </a:prstGeom>
          <a:noFill/>
          <a:ln/>
        </p:spPr>
        <p:txBody>
          <a:bodyPr wrap="square" lIns="0" tIns="0" rIns="0" bIns="0" rtlCol="0" anchor="ctr"/>
          <a:lstStyle/>
          <a:p>
            <a:pPr algn="l" indent="0" marL="0">
              <a:lnSpc>
                <a:spcPct val="100000"/>
              </a:lnSpc>
              <a:buNone/>
            </a:pPr>
            <a:r>
              <a:rPr lang="en-US" sz="4800" spc="-100" kern="0" dirty="0">
                <a:solidFill>
                  <a:srgbClr val="E7EAEE"/>
                </a:solidFill>
                <a:latin typeface="Inter SemiBold" pitchFamily="34" charset="0"/>
                <a:ea typeface="Inter SemiBold" pitchFamily="34" charset="-122"/>
                <a:cs typeface="Inter SemiBold" pitchFamily="34" charset="-120"/>
              </a:rPr>
              <a:t>$340M+</a:t>
            </a:r>
            <a:endParaRPr lang="en-US" sz="4800" dirty="0"/>
          </a:p>
        </p:txBody>
      </p:sp>
      <p:sp>
        <p:nvSpPr>
          <p:cNvPr id="12" name="Text 10"/>
          <p:cNvSpPr txBox="1"/>
          <p:nvPr/>
        </p:nvSpPr>
        <p:spPr>
          <a:xfrm>
            <a:off x="7452360" y="4663440"/>
            <a:ext cx="3824935" cy="502920"/>
          </a:xfrm>
          <a:prstGeom prst="rect">
            <a:avLst/>
          </a:prstGeom>
          <a:noFill/>
          <a:ln/>
        </p:spPr>
        <p:txBody>
          <a:bodyPr wrap="square" lIns="0" tIns="0" rIns="0" bIns="0" rtlCol="0" anchor="t"/>
          <a:lstStyle/>
          <a:p>
            <a:pPr algn="l" indent="0" marL="0">
              <a:lnSpc>
                <a:spcPct val="115000"/>
              </a:lnSpc>
              <a:buNone/>
            </a:pPr>
            <a:r>
              <a:rPr lang="en-US" sz="1500" dirty="0">
                <a:solidFill>
                  <a:srgbClr val="9AA3AF"/>
                </a:solidFill>
                <a:latin typeface="Inter" pitchFamily="34" charset="0"/>
                <a:ea typeface="Inter" pitchFamily="34" charset="-122"/>
                <a:cs typeface="Inter" pitchFamily="34" charset="-120"/>
              </a:rPr>
              <a:t>drained by bridge exploits across 14 incidents in 2026.</a:t>
            </a:r>
            <a:pPr algn="l" indent="0" marL="0">
              <a:lnSpc>
                <a:spcPct val="115000"/>
              </a:lnSpc>
              <a:buNone/>
            </a:pPr>
            <a:r>
              <a:rPr lang="en-US" sz="1500" baseline="30000" dirty="0">
                <a:solidFill>
                  <a:srgbClr val="9AA3AF"/>
                </a:solidFill>
                <a:latin typeface="Inter" pitchFamily="34" charset="0"/>
                <a:ea typeface="Inter" pitchFamily="34" charset="-122"/>
                <a:cs typeface="Inter" pitchFamily="34" charset="-120"/>
              </a:rPr>
              <a:t>4</a:t>
            </a:r>
            <a:endParaRPr lang="en-US" sz="1500" dirty="0"/>
          </a:p>
        </p:txBody>
      </p:sp>
      <p:sp>
        <p:nvSpPr>
          <p:cNvPr id="13" name="Text 11"/>
          <p:cNvSpPr txBox="1"/>
          <p:nvPr/>
        </p:nvSpPr>
        <p:spPr>
          <a:xfrm>
            <a:off x="548640" y="5870448"/>
            <a:ext cx="11094415" cy="237744"/>
          </a:xfrm>
          <a:prstGeom prst="rect">
            <a:avLst/>
          </a:prstGeom>
          <a:noFill/>
          <a:ln/>
        </p:spPr>
        <p:txBody>
          <a:bodyPr wrap="square" lIns="0" tIns="0" rIns="0" bIns="0" rtlCol="0" anchor="t"/>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1  Crypto Times, May 18, 2026    2  Decrypt    3  Phemex, DeFi hacks 2026    4  DexTools / PeckShield, June 2026</a:t>
            </a:r>
            <a:endParaRPr lang="en-US" sz="1000" dirty="0"/>
          </a:p>
        </p:txBody>
      </p:sp>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475488"/>
            <a:ext cx="8229600" cy="237744"/>
          </a:xfrm>
          <a:prstGeom prst="rect">
            <a:avLst/>
          </a:prstGeom>
          <a:noFill/>
          <a:ln/>
        </p:spPr>
        <p:txBody>
          <a:bodyPr wrap="square" lIns="0" tIns="0" rIns="0" bIns="0" rtlCol="0" anchor="ctr"/>
          <a:lstStyle/>
          <a:p>
            <a:pPr algn="l" indent="0" marL="0">
              <a:lnSpc>
                <a:spcPct val="112000"/>
              </a:lnSpc>
              <a:buNone/>
            </a:pPr>
            <a:r>
              <a:rPr lang="en-US" sz="1100" b="1" spc="300" kern="0" dirty="0">
                <a:solidFill>
                  <a:srgbClr val="2DD4BF"/>
                </a:solidFill>
                <a:latin typeface="JetBrains Mono" pitchFamily="34" charset="0"/>
                <a:ea typeface="JetBrains Mono" pitchFamily="34" charset="-122"/>
                <a:cs typeface="JetBrains Mono" pitchFamily="34" charset="-120"/>
              </a:rPr>
              <a:t>THE INSIGHT</a:t>
            </a:r>
            <a:endParaRPr lang="en-US" sz="1100" dirty="0"/>
          </a:p>
        </p:txBody>
      </p:sp>
      <p:sp>
        <p:nvSpPr>
          <p:cNvPr id="3" name="Text 0"/>
          <p:cNvSpPr/>
          <p:nvPr>
            <p:ph idx="100" type="title" hasCustomPrompt="1"/>
          </p:nvPr>
        </p:nvSpPr>
        <p:spPr>
          <a:xfrm>
            <a:off x="548640" y="768096"/>
            <a:ext cx="11094415" cy="713232"/>
          </a:xfrm>
          <a:prstGeom prst="rect">
            <a:avLst/>
          </a:prstGeom>
          <a:noFill/>
          <a:ln/>
        </p:spPr>
        <p:txBody>
          <a:bodyPr wrap="square" lIns="0" tIns="0" rIns="0" bIns="0" rtlCol="0" anchor="t"/>
          <a:lstStyle/>
          <a:p>
            <a:pPr algn="l" indent="0" marL="0">
              <a:buNone/>
            </a:pPr>
            <a:r>
              <a:rPr lang="en-US" sz="3600" spc="-50" kern="0" dirty="0">
                <a:solidFill>
                  <a:srgbClr val="E7EAEE"/>
                </a:solidFill>
                <a:latin typeface="Inter SemiBold" pitchFamily="34" charset="0"/>
                <a:ea typeface="Inter SemiBold" pitchFamily="34" charset="-122"/>
                <a:cs typeface="Inter SemiBold" pitchFamily="34" charset="-120"/>
              </a:rPr>
              <a:t>Two laws, borrowed from Kirchhoff</a:t>
            </a:r>
            <a:endParaRPr lang="en-US" sz="3600" dirty="0"/>
          </a:p>
        </p:txBody>
      </p:sp>
      <p:sp>
        <p:nvSpPr>
          <p:cNvPr id="4" name="Junction Rule"/>
          <p:cNvSpPr/>
          <p:nvPr/>
        </p:nvSpPr>
        <p:spPr>
          <a:xfrm>
            <a:off x="548640" y="1783080"/>
            <a:ext cx="5364328" cy="3794760"/>
          </a:xfrm>
          <a:prstGeom prst="roundRect">
            <a:avLst>
              <a:gd name="adj" fmla="val 3373"/>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5" name="Text 3"/>
          <p:cNvSpPr txBox="1"/>
          <p:nvPr/>
        </p:nvSpPr>
        <p:spPr>
          <a:xfrm>
            <a:off x="914400" y="2075688"/>
            <a:ext cx="4632808" cy="237744"/>
          </a:xfrm>
          <a:prstGeom prst="rect">
            <a:avLst/>
          </a:prstGeom>
          <a:noFill/>
          <a:ln/>
        </p:spPr>
        <p:txBody>
          <a:bodyPr wrap="square" lIns="0" tIns="0" rIns="0" bIns="0" rtlCol="0" anchor="t"/>
          <a:lstStyle/>
          <a:p>
            <a:pPr algn="l" indent="0" marL="0">
              <a:lnSpc>
                <a:spcPct val="112000"/>
              </a:lnSpc>
              <a:buNone/>
            </a:pPr>
            <a:r>
              <a:rPr lang="en-US" sz="1100" b="1" spc="200" kern="0" dirty="0">
                <a:solidFill>
                  <a:srgbClr val="2DD4BF"/>
                </a:solidFill>
                <a:latin typeface="JetBrains Mono" pitchFamily="34" charset="0"/>
                <a:ea typeface="JetBrains Mono" pitchFamily="34" charset="-122"/>
                <a:cs typeface="JetBrains Mono" pitchFamily="34" charset="-120"/>
              </a:rPr>
              <a:t>JUNCTION RULE  ·  PER MESSAGE</a:t>
            </a:r>
            <a:endParaRPr lang="en-US" sz="1100" dirty="0"/>
          </a:p>
        </p:txBody>
      </p:sp>
      <p:sp>
        <p:nvSpPr>
          <p:cNvPr id="6" name="Text 4"/>
          <p:cNvSpPr txBox="1"/>
          <p:nvPr/>
        </p:nvSpPr>
        <p:spPr>
          <a:xfrm>
            <a:off x="914400" y="2386584"/>
            <a:ext cx="4632808" cy="411480"/>
          </a:xfrm>
          <a:prstGeom prst="rect">
            <a:avLst/>
          </a:prstGeom>
          <a:noFill/>
          <a:ln/>
        </p:spPr>
        <p:txBody>
          <a:bodyPr wrap="square" lIns="0" tIns="0" rIns="0" bIns="0" rtlCol="0" anchor="t"/>
          <a:lstStyle/>
          <a:p>
            <a:pPr algn="l" indent="0" marL="0">
              <a:lnSpc>
                <a:spcPct val="112000"/>
              </a:lnSpc>
              <a:buNone/>
            </a:pPr>
            <a:r>
              <a:rPr lang="en-US" sz="2200" dirty="0">
                <a:solidFill>
                  <a:srgbClr val="E7EAEE"/>
                </a:solidFill>
                <a:latin typeface="Inter SemiBold" pitchFamily="34" charset="0"/>
                <a:ea typeface="Inter SemiBold" pitchFamily="34" charset="-122"/>
                <a:cs typeface="Inter SemiBold" pitchFamily="34" charset="-120"/>
              </a:rPr>
              <a:t>Every credit has a debit</a:t>
            </a:r>
            <a:endParaRPr lang="en-US" sz="2200" dirty="0"/>
          </a:p>
        </p:txBody>
      </p:sp>
      <p:sp>
        <p:nvSpPr>
          <p:cNvPr id="7" name="Text 5"/>
          <p:cNvSpPr txBox="1"/>
          <p:nvPr/>
        </p:nvSpPr>
        <p:spPr>
          <a:xfrm>
            <a:off x="914400" y="2807208"/>
            <a:ext cx="4632808" cy="256032"/>
          </a:xfrm>
          <a:prstGeom prst="rect">
            <a:avLst/>
          </a:prstGeom>
          <a:noFill/>
          <a:ln/>
        </p:spPr>
        <p:txBody>
          <a:bodyPr wrap="square" lIns="0" tIns="0" rIns="0" bIns="0" rtlCol="0" anchor="t"/>
          <a:lstStyle/>
          <a:p>
            <a:pPr algn="l" indent="0" marL="0">
              <a:lnSpc>
                <a:spcPct val="112000"/>
              </a:lnSpc>
              <a:buNone/>
            </a:pPr>
            <a:r>
              <a:rPr lang="en-US" sz="1400" dirty="0">
                <a:solidFill>
                  <a:srgbClr val="9AA3AF"/>
                </a:solidFill>
                <a:latin typeface="Inter" pitchFamily="34" charset="0"/>
                <a:ea typeface="Inter" pitchFamily="34" charset="-122"/>
                <a:cs typeface="Inter" pitchFamily="34" charset="-120"/>
              </a:rPr>
              <a:t>Same message id, amount and recipient, finalized.</a:t>
            </a:r>
            <a:endParaRPr lang="en-US" sz="1400" dirty="0"/>
          </a:p>
        </p:txBody>
      </p:sp>
      <p:sp>
        <p:nvSpPr>
          <p:cNvPr id="8" name="Shape 6"/>
          <p:cNvSpPr/>
          <p:nvPr/>
        </p:nvSpPr>
        <p:spPr>
          <a:xfrm>
            <a:off x="914400" y="3264408"/>
            <a:ext cx="1874520" cy="676656"/>
          </a:xfrm>
          <a:prstGeom prst="roundRect">
            <a:avLst>
              <a:gd name="adj" fmla="val 13514"/>
            </a:avLst>
          </a:prstGeom>
          <a:solidFill>
            <a:srgbClr val="181C22"/>
          </a:solidFill>
          <a:ln w="9525">
            <a:solidFill>
              <a:srgbClr val="1C5F57"/>
            </a:solidFill>
            <a:prstDash val="solid"/>
          </a:ln>
        </p:spPr>
      </p:sp>
      <p:sp>
        <p:nvSpPr>
          <p:cNvPr id="9" name="Text 7"/>
          <p:cNvSpPr txBox="1"/>
          <p:nvPr/>
        </p:nvSpPr>
        <p:spPr>
          <a:xfrm>
            <a:off x="1060704" y="3355848"/>
            <a:ext cx="1581912" cy="219456"/>
          </a:xfrm>
          <a:prstGeom prst="rect">
            <a:avLst/>
          </a:prstGeom>
          <a:noFill/>
          <a:ln/>
        </p:spPr>
        <p:txBody>
          <a:bodyPr wrap="square" lIns="0" tIns="0" rIns="0" bIns="0" rtlCol="0" anchor="t"/>
          <a:lstStyle/>
          <a:p>
            <a:pPr algn="l" indent="0" marL="0">
              <a:lnSpc>
                <a:spcPct val="112000"/>
              </a:lnSpc>
              <a:buNone/>
            </a:pPr>
            <a:r>
              <a:rPr lang="en-US" sz="1000" dirty="0">
                <a:solidFill>
                  <a:srgbClr val="9AA3AF"/>
                </a:solidFill>
                <a:latin typeface="JetBrains Mono" pitchFamily="34" charset="0"/>
                <a:ea typeface="JetBrains Mono" pitchFamily="34" charset="-122"/>
                <a:cs typeface="JetBrains Mono" pitchFamily="34" charset="-120"/>
              </a:rPr>
              <a:t>ARBITRUM · DEBIT</a:t>
            </a:r>
            <a:endParaRPr lang="en-US" sz="1000" dirty="0"/>
          </a:p>
        </p:txBody>
      </p:sp>
      <p:sp>
        <p:nvSpPr>
          <p:cNvPr id="10" name="Text 8"/>
          <p:cNvSpPr txBox="1"/>
          <p:nvPr/>
        </p:nvSpPr>
        <p:spPr>
          <a:xfrm>
            <a:off x="1060704" y="3593592"/>
            <a:ext cx="1581912" cy="274320"/>
          </a:xfrm>
          <a:prstGeom prst="rect">
            <a:avLst/>
          </a:prstGeom>
          <a:noFill/>
          <a:ln/>
        </p:spPr>
        <p:txBody>
          <a:bodyPr wrap="square" lIns="0" tIns="0" rIns="0" bIns="0" rtlCol="0" anchor="t"/>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burn 10 kETH</a:t>
            </a:r>
            <a:endParaRPr lang="en-US" sz="1400" dirty="0"/>
          </a:p>
        </p:txBody>
      </p:sp>
      <p:sp>
        <p:nvSpPr>
          <p:cNvPr id="11" name="Shape 9"/>
          <p:cNvSpPr/>
          <p:nvPr/>
        </p:nvSpPr>
        <p:spPr>
          <a:xfrm>
            <a:off x="3672688" y="3264408"/>
            <a:ext cx="1874520" cy="676656"/>
          </a:xfrm>
          <a:prstGeom prst="roundRect">
            <a:avLst>
              <a:gd name="adj" fmla="val 13514"/>
            </a:avLst>
          </a:prstGeom>
          <a:solidFill>
            <a:srgbClr val="181C22"/>
          </a:solidFill>
          <a:ln w="9525">
            <a:solidFill>
              <a:srgbClr val="1C5F57"/>
            </a:solidFill>
            <a:prstDash val="solid"/>
          </a:ln>
        </p:spPr>
      </p:sp>
      <p:sp>
        <p:nvSpPr>
          <p:cNvPr id="12" name="Text 10"/>
          <p:cNvSpPr txBox="1"/>
          <p:nvPr/>
        </p:nvSpPr>
        <p:spPr>
          <a:xfrm>
            <a:off x="3818992" y="3355848"/>
            <a:ext cx="1581912" cy="219456"/>
          </a:xfrm>
          <a:prstGeom prst="rect">
            <a:avLst/>
          </a:prstGeom>
          <a:noFill/>
          <a:ln/>
        </p:spPr>
        <p:txBody>
          <a:bodyPr wrap="square" lIns="0" tIns="0" rIns="0" bIns="0" rtlCol="0" anchor="t"/>
          <a:lstStyle/>
          <a:p>
            <a:pPr algn="l" indent="0" marL="0">
              <a:lnSpc>
                <a:spcPct val="112000"/>
              </a:lnSpc>
              <a:buNone/>
            </a:pPr>
            <a:r>
              <a:rPr lang="en-US" sz="1000" dirty="0">
                <a:solidFill>
                  <a:srgbClr val="9AA3AF"/>
                </a:solidFill>
                <a:latin typeface="JetBrains Mono" pitchFamily="34" charset="0"/>
                <a:ea typeface="JetBrains Mono" pitchFamily="34" charset="-122"/>
                <a:cs typeface="JetBrains Mono" pitchFamily="34" charset="-120"/>
              </a:rPr>
              <a:t>ETHEREUM · CREDIT</a:t>
            </a:r>
            <a:endParaRPr lang="en-US" sz="1000" dirty="0"/>
          </a:p>
        </p:txBody>
      </p:sp>
      <p:sp>
        <p:nvSpPr>
          <p:cNvPr id="13" name="Text 11"/>
          <p:cNvSpPr txBox="1"/>
          <p:nvPr/>
        </p:nvSpPr>
        <p:spPr>
          <a:xfrm>
            <a:off x="3818992" y="3593592"/>
            <a:ext cx="1581912" cy="274320"/>
          </a:xfrm>
          <a:prstGeom prst="rect">
            <a:avLst/>
          </a:prstGeom>
          <a:noFill/>
          <a:ln/>
        </p:spPr>
        <p:txBody>
          <a:bodyPr wrap="square" lIns="0" tIns="0" rIns="0" bIns="0" rtlCol="0" anchor="t"/>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release 10 kETH</a:t>
            </a:r>
            <a:endParaRPr lang="en-US" sz="1400" dirty="0"/>
          </a:p>
        </p:txBody>
      </p:sp>
      <p:sp>
        <p:nvSpPr>
          <p:cNvPr id="14" name="Shape 12"/>
          <p:cNvSpPr/>
          <p:nvPr/>
        </p:nvSpPr>
        <p:spPr>
          <a:xfrm>
            <a:off x="2862072" y="3602736"/>
            <a:ext cx="737464" cy="91"/>
          </a:xfrm>
          <a:prstGeom prst="line">
            <a:avLst/>
          </a:prstGeom>
          <a:noFill/>
          <a:ln w="22225">
            <a:solidFill>
              <a:srgbClr val="2DD4BF"/>
            </a:solidFill>
            <a:prstDash val="solid"/>
            <a:tailEnd type="triangle"/>
          </a:ln>
        </p:spPr>
      </p:sp>
      <p:sp>
        <p:nvSpPr>
          <p:cNvPr id="15" name="Text 13"/>
          <p:cNvSpPr txBox="1"/>
          <p:nvPr/>
        </p:nvSpPr>
        <p:spPr>
          <a:xfrm>
            <a:off x="2788920" y="3319272"/>
            <a:ext cx="883768" cy="219456"/>
          </a:xfrm>
          <a:prstGeom prst="rect">
            <a:avLst/>
          </a:prstGeom>
          <a:noFill/>
          <a:ln/>
        </p:spPr>
        <p:txBody>
          <a:bodyPr wrap="square" lIns="0" tIns="0" rIns="0" bIns="0" rtlCol="0" anchor="t"/>
          <a:lstStyle/>
          <a:p>
            <a:pPr algn="ctr" indent="0" marL="0">
              <a:lnSpc>
                <a:spcPct val="112000"/>
              </a:lnSpc>
              <a:buNone/>
            </a:pPr>
            <a:r>
              <a:rPr lang="en-US" sz="1000" dirty="0">
                <a:solidFill>
                  <a:srgbClr val="2DD4BF"/>
                </a:solidFill>
                <a:latin typeface="JetBrains Mono" pitchFamily="34" charset="0"/>
                <a:ea typeface="JetBrains Mono" pitchFamily="34" charset="-122"/>
                <a:cs typeface="JetBrains Mono" pitchFamily="34" charset="-120"/>
              </a:rPr>
              <a:t>matched</a:t>
            </a:r>
            <a:endParaRPr lang="en-US" sz="1000" dirty="0"/>
          </a:p>
        </p:txBody>
      </p:sp>
      <p:sp>
        <p:nvSpPr>
          <p:cNvPr id="16" name="Shape 14"/>
          <p:cNvSpPr/>
          <p:nvPr/>
        </p:nvSpPr>
        <p:spPr>
          <a:xfrm>
            <a:off x="914400" y="4178808"/>
            <a:ext cx="1874520" cy="676656"/>
          </a:xfrm>
          <a:prstGeom prst="roundRect">
            <a:avLst>
              <a:gd name="adj" fmla="val 13514"/>
            </a:avLst>
          </a:prstGeom>
          <a:solidFill>
            <a:srgbClr val="12151A"/>
          </a:solidFill>
          <a:ln w="9525">
            <a:solidFill>
              <a:srgbClr val="3A4350"/>
            </a:solidFill>
            <a:prstDash val="dash"/>
          </a:ln>
        </p:spPr>
      </p:sp>
      <p:sp>
        <p:nvSpPr>
          <p:cNvPr id="17" name="Text 15"/>
          <p:cNvSpPr txBox="1"/>
          <p:nvPr/>
        </p:nvSpPr>
        <p:spPr>
          <a:xfrm>
            <a:off x="1060704" y="4270248"/>
            <a:ext cx="1581912" cy="219456"/>
          </a:xfrm>
          <a:prstGeom prst="rect">
            <a:avLst/>
          </a:prstGeom>
          <a:noFill/>
          <a:ln/>
        </p:spPr>
        <p:txBody>
          <a:bodyPr wrap="square" lIns="0" tIns="0" rIns="0" bIns="0" rtlCol="0" anchor="t"/>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NO SOURCE CHAIN</a:t>
            </a:r>
            <a:endParaRPr lang="en-US" sz="1000" dirty="0"/>
          </a:p>
        </p:txBody>
      </p:sp>
      <p:sp>
        <p:nvSpPr>
          <p:cNvPr id="18" name="Text 16"/>
          <p:cNvSpPr txBox="1"/>
          <p:nvPr/>
        </p:nvSpPr>
        <p:spPr>
          <a:xfrm>
            <a:off x="1060704" y="4507992"/>
            <a:ext cx="1581912" cy="274320"/>
          </a:xfrm>
          <a:prstGeom prst="rect">
            <a:avLst/>
          </a:prstGeom>
          <a:noFill/>
          <a:ln/>
        </p:spPr>
        <p:txBody>
          <a:bodyPr wrap="square" lIns="0" tIns="0" rIns="0" bIns="0" rtlCol="0" anchor="t"/>
          <a:lstStyle/>
          <a:p>
            <a:pPr algn="l" indent="0" marL="0">
              <a:lnSpc>
                <a:spcPct val="112000"/>
              </a:lnSpc>
              <a:buNone/>
            </a:pPr>
            <a:r>
              <a:rPr lang="en-US" sz="1400" dirty="0">
                <a:solidFill>
                  <a:srgbClr val="7D8693"/>
                </a:solidFill>
                <a:latin typeface="Inter SemiBold" pitchFamily="34" charset="0"/>
                <a:ea typeface="Inter SemiBold" pitchFamily="34" charset="-122"/>
                <a:cs typeface="Inter SemiBold" pitchFamily="34" charset="-120"/>
              </a:rPr>
              <a:t>no debit</a:t>
            </a:r>
            <a:endParaRPr lang="en-US" sz="1400" dirty="0"/>
          </a:p>
        </p:txBody>
      </p:sp>
      <p:sp>
        <p:nvSpPr>
          <p:cNvPr id="19" name="Shape 17"/>
          <p:cNvSpPr/>
          <p:nvPr/>
        </p:nvSpPr>
        <p:spPr>
          <a:xfrm>
            <a:off x="3672688" y="4178808"/>
            <a:ext cx="1874520" cy="676656"/>
          </a:xfrm>
          <a:prstGeom prst="roundRect">
            <a:avLst>
              <a:gd name="adj" fmla="val 13514"/>
            </a:avLst>
          </a:prstGeom>
          <a:solidFill>
            <a:srgbClr val="2A1016"/>
          </a:solidFill>
          <a:ln w="9525">
            <a:solidFill>
              <a:srgbClr val="6B1F2C"/>
            </a:solidFill>
            <a:prstDash val="solid"/>
          </a:ln>
        </p:spPr>
      </p:sp>
      <p:sp>
        <p:nvSpPr>
          <p:cNvPr id="20" name="Text 18"/>
          <p:cNvSpPr txBox="1"/>
          <p:nvPr/>
        </p:nvSpPr>
        <p:spPr>
          <a:xfrm>
            <a:off x="3818992" y="4270248"/>
            <a:ext cx="1581912" cy="219456"/>
          </a:xfrm>
          <a:prstGeom prst="rect">
            <a:avLst/>
          </a:prstGeom>
          <a:noFill/>
          <a:ln/>
        </p:spPr>
        <p:txBody>
          <a:bodyPr wrap="square" lIns="0" tIns="0" rIns="0" bIns="0" rtlCol="0" anchor="t"/>
          <a:lstStyle/>
          <a:p>
            <a:pPr algn="l" indent="0" marL="0">
              <a:lnSpc>
                <a:spcPct val="112000"/>
              </a:lnSpc>
              <a:buNone/>
            </a:pPr>
            <a:r>
              <a:rPr lang="en-US" sz="1000" dirty="0">
                <a:solidFill>
                  <a:srgbClr val="9AA3AF"/>
                </a:solidFill>
                <a:latin typeface="JetBrains Mono" pitchFamily="34" charset="0"/>
                <a:ea typeface="JetBrains Mono" pitchFamily="34" charset="-122"/>
                <a:cs typeface="JetBrains Mono" pitchFamily="34" charset="-120"/>
              </a:rPr>
              <a:t>ETHEREUM · CREDIT</a:t>
            </a:r>
            <a:endParaRPr lang="en-US" sz="1000" dirty="0"/>
          </a:p>
        </p:txBody>
      </p:sp>
      <p:sp>
        <p:nvSpPr>
          <p:cNvPr id="21" name="Text 19"/>
          <p:cNvSpPr txBox="1"/>
          <p:nvPr/>
        </p:nvSpPr>
        <p:spPr>
          <a:xfrm>
            <a:off x="3818992" y="4507992"/>
            <a:ext cx="1581912" cy="274320"/>
          </a:xfrm>
          <a:prstGeom prst="rect">
            <a:avLst/>
          </a:prstGeom>
          <a:noFill/>
          <a:ln/>
        </p:spPr>
        <p:txBody>
          <a:bodyPr wrap="square" lIns="0" tIns="0" rIns="0" bIns="0" rtlCol="0" anchor="t"/>
          <a:lstStyle/>
          <a:p>
            <a:pPr algn="l" indent="0" marL="0">
              <a:lnSpc>
                <a:spcPct val="112000"/>
              </a:lnSpc>
              <a:buNone/>
            </a:pPr>
            <a:r>
              <a:rPr lang="en-US" sz="1400" dirty="0">
                <a:solidFill>
                  <a:srgbClr val="F43F5E"/>
                </a:solidFill>
                <a:latin typeface="Inter SemiBold" pitchFamily="34" charset="0"/>
                <a:ea typeface="Inter SemiBold" pitchFamily="34" charset="-122"/>
                <a:cs typeface="Inter SemiBold" pitchFamily="34" charset="-120"/>
              </a:rPr>
              <a:t>release 116,500</a:t>
            </a:r>
            <a:endParaRPr lang="en-US" sz="1400" dirty="0"/>
          </a:p>
        </p:txBody>
      </p:sp>
      <p:sp>
        <p:nvSpPr>
          <p:cNvPr id="22" name="Shape 20"/>
          <p:cNvSpPr/>
          <p:nvPr/>
        </p:nvSpPr>
        <p:spPr>
          <a:xfrm>
            <a:off x="2862072" y="4517136"/>
            <a:ext cx="737464" cy="91"/>
          </a:xfrm>
          <a:prstGeom prst="line">
            <a:avLst/>
          </a:prstGeom>
          <a:noFill/>
          <a:ln w="22225">
            <a:solidFill>
              <a:srgbClr val="F43F5E"/>
            </a:solidFill>
            <a:prstDash val="dash"/>
            <a:tailEnd type="triangle"/>
          </a:ln>
        </p:spPr>
      </p:sp>
      <p:sp>
        <p:nvSpPr>
          <p:cNvPr id="23" name="Text 21"/>
          <p:cNvSpPr txBox="1"/>
          <p:nvPr/>
        </p:nvSpPr>
        <p:spPr>
          <a:xfrm>
            <a:off x="2788920" y="4233672"/>
            <a:ext cx="883768" cy="219456"/>
          </a:xfrm>
          <a:prstGeom prst="rect">
            <a:avLst/>
          </a:prstGeom>
          <a:noFill/>
          <a:ln/>
        </p:spPr>
        <p:txBody>
          <a:bodyPr wrap="square" lIns="0" tIns="0" rIns="0" bIns="0" rtlCol="0" anchor="t"/>
          <a:lstStyle/>
          <a:p>
            <a:pPr algn="ctr" indent="0" marL="0">
              <a:lnSpc>
                <a:spcPct val="112000"/>
              </a:lnSpc>
              <a:buNone/>
            </a:pPr>
            <a:r>
              <a:rPr lang="en-US" sz="1000" dirty="0">
                <a:solidFill>
                  <a:srgbClr val="F43F5E"/>
                </a:solidFill>
                <a:latin typeface="JetBrains Mono" pitchFamily="34" charset="0"/>
                <a:ea typeface="JetBrains Mono" pitchFamily="34" charset="-122"/>
                <a:cs typeface="JetBrains Mono" pitchFamily="34" charset="-120"/>
              </a:rPr>
              <a:t>forged</a:t>
            </a:r>
            <a:endParaRPr lang="en-US" sz="1000" dirty="0"/>
          </a:p>
        </p:txBody>
      </p:sp>
      <p:sp>
        <p:nvSpPr>
          <p:cNvPr id="24" name="Shape 22"/>
          <p:cNvSpPr/>
          <p:nvPr/>
        </p:nvSpPr>
        <p:spPr>
          <a:xfrm>
            <a:off x="3764128" y="5001768"/>
            <a:ext cx="1783080" cy="256032"/>
          </a:xfrm>
          <a:prstGeom prst="roundRect">
            <a:avLst>
              <a:gd name="adj" fmla="val 50000"/>
            </a:avLst>
          </a:prstGeom>
          <a:solidFill>
            <a:srgbClr val="2A1016"/>
          </a:solidFill>
          <a:ln w="9525">
            <a:solidFill>
              <a:srgbClr val="6B1F2C"/>
            </a:solidFill>
            <a:prstDash val="solid"/>
          </a:ln>
        </p:spPr>
      </p:sp>
      <p:sp>
        <p:nvSpPr>
          <p:cNvPr id="25" name="Shape 23"/>
          <p:cNvSpPr/>
          <p:nvPr/>
        </p:nvSpPr>
        <p:spPr>
          <a:xfrm>
            <a:off x="3883000" y="5093208"/>
            <a:ext cx="73152" cy="73152"/>
          </a:xfrm>
          <a:prstGeom prst="ellipse">
            <a:avLst/>
          </a:prstGeom>
          <a:solidFill>
            <a:srgbClr val="F43F5E"/>
          </a:solidFill>
          <a:ln/>
        </p:spPr>
      </p:sp>
      <p:sp>
        <p:nvSpPr>
          <p:cNvPr id="26" name="Text 24"/>
          <p:cNvSpPr txBox="1"/>
          <p:nvPr/>
        </p:nvSpPr>
        <p:spPr>
          <a:xfrm>
            <a:off x="4020160" y="5001768"/>
            <a:ext cx="1490472" cy="256032"/>
          </a:xfrm>
          <a:prstGeom prst="rect">
            <a:avLst/>
          </a:prstGeom>
          <a:noFill/>
          <a:ln/>
        </p:spPr>
        <p:txBody>
          <a:bodyPr wrap="square" lIns="0" tIns="0" rIns="0" bIns="0" rtlCol="0" anchor="ctr"/>
          <a:lstStyle/>
          <a:p>
            <a:pPr algn="l" indent="0" marL="0">
              <a:lnSpc>
                <a:spcPct val="112000"/>
              </a:lnSpc>
              <a:buNone/>
            </a:pPr>
            <a:r>
              <a:rPr lang="en-US" sz="1000" b="1" spc="100" kern="0" dirty="0">
                <a:solidFill>
                  <a:srgbClr val="F43F5E"/>
                </a:solidFill>
                <a:latin typeface="JetBrains Mono" pitchFamily="34" charset="0"/>
                <a:ea typeface="JetBrains Mono" pitchFamily="34" charset="-122"/>
                <a:cs typeface="JetBrains Mono" pitchFamily="34" charset="-120"/>
              </a:rPr>
              <a:t>DEBIT_NOT_FOUND</a:t>
            </a:r>
            <a:endParaRPr lang="en-US" sz="1000" dirty="0"/>
          </a:p>
        </p:txBody>
      </p:sp>
      <p:sp>
        <p:nvSpPr>
          <p:cNvPr id="27" name="Text 25"/>
          <p:cNvSpPr txBox="1"/>
          <p:nvPr/>
        </p:nvSpPr>
        <p:spPr>
          <a:xfrm>
            <a:off x="914400" y="5001768"/>
            <a:ext cx="2743200" cy="256032"/>
          </a:xfrm>
          <a:prstGeom prst="rect">
            <a:avLst/>
          </a:prstGeom>
          <a:noFill/>
          <a:ln/>
        </p:spPr>
        <p:txBody>
          <a:bodyPr wrap="square" lIns="0" tIns="0" rIns="0" bIns="0" rtlCol="0" anchor="ctr"/>
          <a:lstStyle/>
          <a:p>
            <a:pPr algn="l" indent="0" marL="0">
              <a:lnSpc>
                <a:spcPct val="112000"/>
              </a:lnSpc>
              <a:buNone/>
            </a:pPr>
            <a:r>
              <a:rPr lang="en-US" sz="1400" dirty="0">
                <a:solidFill>
                  <a:srgbClr val="9AA3AF"/>
                </a:solidFill>
                <a:latin typeface="Inter" pitchFamily="34" charset="0"/>
                <a:ea typeface="Inter" pitchFamily="34" charset="-122"/>
                <a:cs typeface="Inter" pitchFamily="34" charset="-120"/>
              </a:rPr>
              <a:t>Caught on the first transaction.</a:t>
            </a:r>
            <a:endParaRPr lang="en-US" sz="1400" dirty="0"/>
          </a:p>
        </p:txBody>
      </p:sp>
      <p:sp>
        <p:nvSpPr>
          <p:cNvPr id="28" name="Loop Rule"/>
          <p:cNvSpPr/>
          <p:nvPr/>
        </p:nvSpPr>
        <p:spPr>
          <a:xfrm>
            <a:off x="6278728" y="1783080"/>
            <a:ext cx="5364328" cy="3794760"/>
          </a:xfrm>
          <a:prstGeom prst="roundRect">
            <a:avLst>
              <a:gd name="adj" fmla="val 3373"/>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29" name="Text 27"/>
          <p:cNvSpPr txBox="1"/>
          <p:nvPr/>
        </p:nvSpPr>
        <p:spPr>
          <a:xfrm>
            <a:off x="6644488" y="2075688"/>
            <a:ext cx="4632808" cy="237744"/>
          </a:xfrm>
          <a:prstGeom prst="rect">
            <a:avLst/>
          </a:prstGeom>
          <a:noFill/>
          <a:ln/>
        </p:spPr>
        <p:txBody>
          <a:bodyPr wrap="square" lIns="0" tIns="0" rIns="0" bIns="0" rtlCol="0" anchor="t"/>
          <a:lstStyle/>
          <a:p>
            <a:pPr algn="l" indent="0" marL="0">
              <a:lnSpc>
                <a:spcPct val="112000"/>
              </a:lnSpc>
              <a:buNone/>
            </a:pPr>
            <a:r>
              <a:rPr lang="en-US" sz="1100" b="1" spc="200" kern="0" dirty="0">
                <a:solidFill>
                  <a:srgbClr val="2DD4BF"/>
                </a:solidFill>
                <a:latin typeface="JetBrains Mono" pitchFamily="34" charset="0"/>
                <a:ea typeface="JetBrains Mono" pitchFamily="34" charset="-122"/>
                <a:cs typeface="JetBrains Mono" pitchFamily="34" charset="-120"/>
              </a:rPr>
              <a:t>LOOP RULE  ·  ACROSS ALL CHAINS</a:t>
            </a:r>
            <a:endParaRPr lang="en-US" sz="1100" dirty="0"/>
          </a:p>
        </p:txBody>
      </p:sp>
      <p:sp>
        <p:nvSpPr>
          <p:cNvPr id="30" name="Text 28"/>
          <p:cNvSpPr txBox="1"/>
          <p:nvPr/>
        </p:nvSpPr>
        <p:spPr>
          <a:xfrm>
            <a:off x="6644488" y="2386584"/>
            <a:ext cx="4632808" cy="411480"/>
          </a:xfrm>
          <a:prstGeom prst="rect">
            <a:avLst/>
          </a:prstGeom>
          <a:noFill/>
          <a:ln/>
        </p:spPr>
        <p:txBody>
          <a:bodyPr wrap="square" lIns="0" tIns="0" rIns="0" bIns="0" rtlCol="0" anchor="t"/>
          <a:lstStyle/>
          <a:p>
            <a:pPr algn="l" indent="0" marL="0">
              <a:lnSpc>
                <a:spcPct val="112000"/>
              </a:lnSpc>
              <a:buNone/>
            </a:pPr>
            <a:r>
              <a:rPr lang="en-US" sz="2200" dirty="0">
                <a:solidFill>
                  <a:srgbClr val="E7EAEE"/>
                </a:solidFill>
                <a:latin typeface="Inter SemiBold" pitchFamily="34" charset="0"/>
                <a:ea typeface="Inter SemiBold" pitchFamily="34" charset="-122"/>
                <a:cs typeface="Inter SemiBold" pitchFamily="34" charset="-120"/>
              </a:rPr>
              <a:t>Backing covers every claim</a:t>
            </a:r>
            <a:endParaRPr lang="en-US" sz="2200" dirty="0"/>
          </a:p>
        </p:txBody>
      </p:sp>
      <p:sp>
        <p:nvSpPr>
          <p:cNvPr id="31" name="Shape 29"/>
          <p:cNvSpPr/>
          <p:nvPr/>
        </p:nvSpPr>
        <p:spPr>
          <a:xfrm>
            <a:off x="7147408" y="3429000"/>
            <a:ext cx="1813484" cy="585216"/>
          </a:xfrm>
          <a:prstGeom prst="line">
            <a:avLst/>
          </a:prstGeom>
          <a:noFill/>
          <a:ln w="19050">
            <a:solidFill>
              <a:srgbClr val="3A4350"/>
            </a:solidFill>
            <a:prstDash val="solid"/>
          </a:ln>
        </p:spPr>
      </p:sp>
      <p:sp>
        <p:nvSpPr>
          <p:cNvPr id="32" name="Shape 30"/>
          <p:cNvSpPr/>
          <p:nvPr/>
        </p:nvSpPr>
        <p:spPr>
          <a:xfrm>
            <a:off x="8960891" y="3429000"/>
            <a:ext cx="91" cy="585216"/>
          </a:xfrm>
          <a:prstGeom prst="line">
            <a:avLst/>
          </a:prstGeom>
          <a:noFill/>
          <a:ln w="19050">
            <a:solidFill>
              <a:srgbClr val="3A4350"/>
            </a:solidFill>
            <a:prstDash val="solid"/>
          </a:ln>
        </p:spPr>
      </p:sp>
      <p:sp>
        <p:nvSpPr>
          <p:cNvPr id="33" name="Shape 31"/>
          <p:cNvSpPr/>
          <p:nvPr/>
        </p:nvSpPr>
        <p:spPr>
          <a:xfrm flipH="1">
            <a:off x="8960891" y="3429000"/>
            <a:ext cx="1813484" cy="585216"/>
          </a:xfrm>
          <a:prstGeom prst="line">
            <a:avLst/>
          </a:prstGeom>
          <a:noFill/>
          <a:ln w="19050">
            <a:solidFill>
              <a:srgbClr val="3A4350"/>
            </a:solidFill>
            <a:prstDash val="solid"/>
          </a:ln>
        </p:spPr>
      </p:sp>
      <p:sp>
        <p:nvSpPr>
          <p:cNvPr id="34" name="Shape 32"/>
          <p:cNvSpPr/>
          <p:nvPr/>
        </p:nvSpPr>
        <p:spPr>
          <a:xfrm>
            <a:off x="6580480" y="3044952"/>
            <a:ext cx="1133856" cy="420624"/>
          </a:xfrm>
          <a:prstGeom prst="roundRect">
            <a:avLst>
              <a:gd name="adj" fmla="val 50000"/>
            </a:avLst>
          </a:prstGeom>
          <a:solidFill>
            <a:srgbClr val="181C22"/>
          </a:solidFill>
          <a:ln w="9525">
            <a:solidFill>
              <a:srgbClr val="3A4350"/>
            </a:solidFill>
            <a:prstDash val="solid"/>
          </a:ln>
        </p:spPr>
      </p:sp>
      <p:sp>
        <p:nvSpPr>
          <p:cNvPr id="35" name="Text 33"/>
          <p:cNvSpPr txBox="1"/>
          <p:nvPr/>
        </p:nvSpPr>
        <p:spPr>
          <a:xfrm>
            <a:off x="6580480" y="3044952"/>
            <a:ext cx="1133856" cy="420624"/>
          </a:xfrm>
          <a:prstGeom prst="rect">
            <a:avLst/>
          </a:prstGeom>
          <a:noFill/>
          <a:ln/>
        </p:spPr>
        <p:txBody>
          <a:bodyPr wrap="square" lIns="0" tIns="0" rIns="0" bIns="0" rtlCol="0" anchor="ctr"/>
          <a:lstStyle/>
          <a:p>
            <a:pPr algn="ctr" indent="0" marL="0">
              <a:lnSpc>
                <a:spcPct val="112000"/>
              </a:lnSpc>
              <a:buNone/>
            </a:pPr>
            <a:r>
              <a:rPr lang="en-US" sz="1200" b="1" dirty="0">
                <a:solidFill>
                  <a:srgbClr val="E7EAEE"/>
                </a:solidFill>
                <a:latin typeface="JetBrains Mono" pitchFamily="34" charset="0"/>
                <a:ea typeface="JetBrains Mono" pitchFamily="34" charset="-122"/>
                <a:cs typeface="JetBrains Mono" pitchFamily="34" charset="-120"/>
              </a:rPr>
              <a:t>S₁ </a:t>
            </a:r>
            <a:pPr algn="ctr" indent="0" marL="0">
              <a:lnSpc>
                <a:spcPct val="112000"/>
              </a:lnSpc>
              <a:buNone/>
            </a:pPr>
            <a:r>
              <a:rPr lang="en-US" sz="1200" dirty="0">
                <a:solidFill>
                  <a:srgbClr val="9AA3AF"/>
                </a:solidFill>
                <a:latin typeface="Inter" pitchFamily="34" charset="0"/>
                <a:ea typeface="Inter" pitchFamily="34" charset="-122"/>
                <a:cs typeface="Inter" pitchFamily="34" charset="-120"/>
              </a:rPr>
              <a:t>Arbitrum</a:t>
            </a:r>
            <a:endParaRPr lang="en-US" sz="1200" dirty="0"/>
          </a:p>
        </p:txBody>
      </p:sp>
      <p:sp>
        <p:nvSpPr>
          <p:cNvPr id="36" name="Shape 34"/>
          <p:cNvSpPr/>
          <p:nvPr/>
        </p:nvSpPr>
        <p:spPr>
          <a:xfrm>
            <a:off x="8393963" y="3044952"/>
            <a:ext cx="1133856" cy="420624"/>
          </a:xfrm>
          <a:prstGeom prst="roundRect">
            <a:avLst>
              <a:gd name="adj" fmla="val 50000"/>
            </a:avLst>
          </a:prstGeom>
          <a:solidFill>
            <a:srgbClr val="181C22"/>
          </a:solidFill>
          <a:ln w="9525">
            <a:solidFill>
              <a:srgbClr val="3A4350"/>
            </a:solidFill>
            <a:prstDash val="solid"/>
          </a:ln>
        </p:spPr>
      </p:sp>
      <p:sp>
        <p:nvSpPr>
          <p:cNvPr id="37" name="Text 35"/>
          <p:cNvSpPr txBox="1"/>
          <p:nvPr/>
        </p:nvSpPr>
        <p:spPr>
          <a:xfrm>
            <a:off x="8393963" y="3044952"/>
            <a:ext cx="1133856" cy="420624"/>
          </a:xfrm>
          <a:prstGeom prst="rect">
            <a:avLst/>
          </a:prstGeom>
          <a:noFill/>
          <a:ln/>
        </p:spPr>
        <p:txBody>
          <a:bodyPr wrap="square" lIns="0" tIns="0" rIns="0" bIns="0" rtlCol="0" anchor="ctr"/>
          <a:lstStyle/>
          <a:p>
            <a:pPr algn="ctr" indent="0" marL="0">
              <a:lnSpc>
                <a:spcPct val="112000"/>
              </a:lnSpc>
              <a:buNone/>
            </a:pPr>
            <a:r>
              <a:rPr lang="en-US" sz="1200" b="1" dirty="0">
                <a:solidFill>
                  <a:srgbClr val="E7EAEE"/>
                </a:solidFill>
                <a:latin typeface="JetBrains Mono" pitchFamily="34" charset="0"/>
                <a:ea typeface="JetBrains Mono" pitchFamily="34" charset="-122"/>
                <a:cs typeface="JetBrains Mono" pitchFamily="34" charset="-120"/>
              </a:rPr>
              <a:t>S₂ </a:t>
            </a:r>
            <a:pPr algn="ctr" indent="0" marL="0">
              <a:lnSpc>
                <a:spcPct val="112000"/>
              </a:lnSpc>
              <a:buNone/>
            </a:pPr>
            <a:r>
              <a:rPr lang="en-US" sz="1200" dirty="0">
                <a:solidFill>
                  <a:srgbClr val="9AA3AF"/>
                </a:solidFill>
                <a:latin typeface="Inter" pitchFamily="34" charset="0"/>
                <a:ea typeface="Inter" pitchFamily="34" charset="-122"/>
                <a:cs typeface="Inter" pitchFamily="34" charset="-120"/>
              </a:rPr>
              <a:t>Base</a:t>
            </a:r>
            <a:endParaRPr lang="en-US" sz="1200" dirty="0"/>
          </a:p>
        </p:txBody>
      </p:sp>
      <p:sp>
        <p:nvSpPr>
          <p:cNvPr id="38" name="Shape 36"/>
          <p:cNvSpPr/>
          <p:nvPr/>
        </p:nvSpPr>
        <p:spPr>
          <a:xfrm>
            <a:off x="10207447" y="3044952"/>
            <a:ext cx="1133856" cy="420624"/>
          </a:xfrm>
          <a:prstGeom prst="roundRect">
            <a:avLst>
              <a:gd name="adj" fmla="val 50000"/>
            </a:avLst>
          </a:prstGeom>
          <a:solidFill>
            <a:srgbClr val="181C22"/>
          </a:solidFill>
          <a:ln w="9525">
            <a:solidFill>
              <a:srgbClr val="3A4350"/>
            </a:solidFill>
            <a:prstDash val="solid"/>
          </a:ln>
        </p:spPr>
      </p:sp>
      <p:sp>
        <p:nvSpPr>
          <p:cNvPr id="39" name="Text 37"/>
          <p:cNvSpPr txBox="1"/>
          <p:nvPr/>
        </p:nvSpPr>
        <p:spPr>
          <a:xfrm>
            <a:off x="10207447" y="3044952"/>
            <a:ext cx="1133856" cy="420624"/>
          </a:xfrm>
          <a:prstGeom prst="rect">
            <a:avLst/>
          </a:prstGeom>
          <a:noFill/>
          <a:ln/>
        </p:spPr>
        <p:txBody>
          <a:bodyPr wrap="square" lIns="0" tIns="0" rIns="0" bIns="0" rtlCol="0" anchor="ctr"/>
          <a:lstStyle/>
          <a:p>
            <a:pPr algn="ctr" indent="0" marL="0">
              <a:lnSpc>
                <a:spcPct val="112000"/>
              </a:lnSpc>
              <a:buNone/>
            </a:pPr>
            <a:r>
              <a:rPr lang="en-US" sz="1200" b="1" dirty="0">
                <a:solidFill>
                  <a:srgbClr val="E7EAEE"/>
                </a:solidFill>
                <a:latin typeface="JetBrains Mono" pitchFamily="34" charset="0"/>
                <a:ea typeface="JetBrains Mono" pitchFamily="34" charset="-122"/>
                <a:cs typeface="JetBrains Mono" pitchFamily="34" charset="-120"/>
              </a:rPr>
              <a:t>F </a:t>
            </a:r>
            <a:pPr algn="ctr" indent="0" marL="0">
              <a:lnSpc>
                <a:spcPct val="112000"/>
              </a:lnSpc>
              <a:buNone/>
            </a:pPr>
            <a:r>
              <a:rPr lang="en-US" sz="1200" dirty="0">
                <a:solidFill>
                  <a:srgbClr val="9AA3AF"/>
                </a:solidFill>
                <a:latin typeface="Inter" pitchFamily="34" charset="0"/>
                <a:ea typeface="Inter" pitchFamily="34" charset="-122"/>
                <a:cs typeface="Inter" pitchFamily="34" charset="-120"/>
              </a:rPr>
              <a:t>In flight</a:t>
            </a:r>
            <a:endParaRPr lang="en-US" sz="1200" dirty="0"/>
          </a:p>
        </p:txBody>
      </p:sp>
      <p:sp>
        <p:nvSpPr>
          <p:cNvPr id="40" name="Shape 38"/>
          <p:cNvSpPr/>
          <p:nvPr/>
        </p:nvSpPr>
        <p:spPr>
          <a:xfrm>
            <a:off x="8704859" y="4014216"/>
            <a:ext cx="512064" cy="512064"/>
          </a:xfrm>
          <a:prstGeom prst="ellipse">
            <a:avLst/>
          </a:prstGeom>
          <a:solidFill>
            <a:srgbClr val="2DD4BF"/>
          </a:solidFill>
          <a:ln/>
        </p:spPr>
      </p:sp>
      <p:sp>
        <p:nvSpPr>
          <p:cNvPr id="41" name="Text 39"/>
          <p:cNvSpPr txBox="1"/>
          <p:nvPr/>
        </p:nvSpPr>
        <p:spPr>
          <a:xfrm>
            <a:off x="8704859" y="4014216"/>
            <a:ext cx="512064" cy="512064"/>
          </a:xfrm>
          <a:prstGeom prst="rect">
            <a:avLst/>
          </a:prstGeom>
          <a:noFill/>
          <a:ln/>
        </p:spPr>
        <p:txBody>
          <a:bodyPr wrap="square" lIns="0" tIns="0" rIns="0" bIns="0" rtlCol="0" anchor="ctr"/>
          <a:lstStyle/>
          <a:p>
            <a:pPr algn="ctr" indent="0" marL="0">
              <a:lnSpc>
                <a:spcPct val="112000"/>
              </a:lnSpc>
              <a:buNone/>
            </a:pPr>
            <a:r>
              <a:rPr lang="en-US" sz="1600" b="1" dirty="0">
                <a:solidFill>
                  <a:srgbClr val="0B0D10"/>
                </a:solidFill>
                <a:latin typeface="JetBrains Mono" pitchFamily="34" charset="0"/>
                <a:ea typeface="JetBrains Mono" pitchFamily="34" charset="-122"/>
                <a:cs typeface="JetBrains Mono" pitchFamily="34" charset="-120"/>
              </a:rPr>
              <a:t>E</a:t>
            </a:r>
            <a:endParaRPr lang="en-US" sz="1600" dirty="0"/>
          </a:p>
        </p:txBody>
      </p:sp>
      <p:sp>
        <p:nvSpPr>
          <p:cNvPr id="42" name="Text 40"/>
          <p:cNvSpPr txBox="1"/>
          <p:nvPr/>
        </p:nvSpPr>
        <p:spPr>
          <a:xfrm>
            <a:off x="9326651" y="4151376"/>
            <a:ext cx="1463040" cy="237744"/>
          </a:xfrm>
          <a:prstGeom prst="rect">
            <a:avLst/>
          </a:prstGeom>
          <a:noFill/>
          <a:ln/>
        </p:spPr>
        <p:txBody>
          <a:bodyPr wrap="square" lIns="0" tIns="0" rIns="0" bIns="0" rtlCol="0" anchor="ctr"/>
          <a:lstStyle/>
          <a:p>
            <a:pPr algn="l" indent="0" marL="0">
              <a:lnSpc>
                <a:spcPct val="112000"/>
              </a:lnSpc>
              <a:buNone/>
            </a:pPr>
            <a:r>
              <a:rPr lang="en-US" sz="1000" dirty="0">
                <a:solidFill>
                  <a:srgbClr val="9AA3AF"/>
                </a:solidFill>
                <a:latin typeface="JetBrains Mono" pitchFamily="34" charset="0"/>
                <a:ea typeface="JetBrains Mono" pitchFamily="34" charset="-122"/>
                <a:cs typeface="JetBrains Mono" pitchFamily="34" charset="-120"/>
              </a:rPr>
              <a:t>home escrow</a:t>
            </a:r>
            <a:endParaRPr lang="en-US" sz="1000" dirty="0"/>
          </a:p>
        </p:txBody>
      </p:sp>
      <p:sp>
        <p:nvSpPr>
          <p:cNvPr id="43" name="Text 41"/>
          <p:cNvSpPr txBox="1"/>
          <p:nvPr/>
        </p:nvSpPr>
        <p:spPr>
          <a:xfrm>
            <a:off x="6644488" y="4663440"/>
            <a:ext cx="4632808" cy="457200"/>
          </a:xfrm>
          <a:prstGeom prst="rect">
            <a:avLst/>
          </a:prstGeom>
          <a:noFill/>
          <a:ln/>
        </p:spPr>
        <p:txBody>
          <a:bodyPr wrap="square" lIns="0" tIns="0" rIns="0" bIns="0" rtlCol="0" anchor="ctr"/>
          <a:lstStyle/>
          <a:p>
            <a:pPr algn="ctr" indent="0" marL="0">
              <a:lnSpc>
                <a:spcPct val="112000"/>
              </a:lnSpc>
              <a:buNone/>
            </a:pPr>
            <a:r>
              <a:rPr lang="en-US" sz="2600" dirty="0">
                <a:solidFill>
                  <a:srgbClr val="E7EAEE"/>
                </a:solidFill>
                <a:latin typeface="Inter SemiBold" pitchFamily="34" charset="0"/>
                <a:ea typeface="Inter SemiBold" pitchFamily="34" charset="-122"/>
                <a:cs typeface="Inter SemiBold" pitchFamily="34" charset="-120"/>
              </a:rPr>
              <a:t>Δ = E − (ΣS + F) ≥ 0</a:t>
            </a:r>
            <a:endParaRPr lang="en-US" sz="2600" dirty="0"/>
          </a:p>
        </p:txBody>
      </p:sp>
      <p:sp>
        <p:nvSpPr>
          <p:cNvPr id="44" name="Text 42"/>
          <p:cNvSpPr txBox="1"/>
          <p:nvPr/>
        </p:nvSpPr>
        <p:spPr>
          <a:xfrm>
            <a:off x="6644488" y="5129784"/>
            <a:ext cx="4632808" cy="274320"/>
          </a:xfrm>
          <a:prstGeom prst="rect">
            <a:avLst/>
          </a:prstGeom>
          <a:noFill/>
          <a:ln/>
        </p:spPr>
        <p:txBody>
          <a:bodyPr wrap="square" lIns="0" tIns="0" rIns="0" bIns="0" rtlCol="0" anchor="t"/>
          <a:lstStyle/>
          <a:p>
            <a:pPr algn="ctr" indent="0" marL="0">
              <a:lnSpc>
                <a:spcPct val="112000"/>
              </a:lnSpc>
              <a:buNone/>
            </a:pPr>
            <a:r>
              <a:rPr lang="en-US" sz="1400" dirty="0">
                <a:solidFill>
                  <a:srgbClr val="9AA3AF"/>
                </a:solidFill>
                <a:latin typeface="Inter" pitchFamily="34" charset="0"/>
                <a:ea typeface="Inter" pitchFamily="34" charset="-122"/>
                <a:cs typeface="Inter" pitchFamily="34" charset="-120"/>
              </a:rPr>
              <a:t>Below zero, value was created from nothing.</a:t>
            </a:r>
            <a:endParaRPr lang="en-US" sz="1400" dirty="0"/>
          </a:p>
        </p:txBody>
      </p:sp>
      <p:sp>
        <p:nvSpPr>
          <p:cNvPr id="45" name="Text 43"/>
          <p:cNvSpPr txBox="1"/>
          <p:nvPr/>
        </p:nvSpPr>
        <p:spPr>
          <a:xfrm>
            <a:off x="548640" y="5779008"/>
            <a:ext cx="11094415" cy="274320"/>
          </a:xfrm>
          <a:prstGeom prst="rect">
            <a:avLst/>
          </a:prstGeom>
          <a:noFill/>
          <a:ln/>
        </p:spPr>
        <p:txBody>
          <a:bodyPr wrap="square" lIns="0" tIns="0" rIns="0" bIns="0" rtlCol="0" anchor="t"/>
          <a:lstStyle/>
          <a:p>
            <a:pPr algn="l" indent="0" marL="0">
              <a:lnSpc>
                <a:spcPct val="112000"/>
              </a:lnSpc>
              <a:buNone/>
            </a:pPr>
            <a:r>
              <a:rPr lang="en-US" sz="1400" dirty="0">
                <a:solidFill>
                  <a:srgbClr val="7D8693"/>
                </a:solidFill>
                <a:latin typeface="Inter" pitchFamily="34" charset="0"/>
                <a:ea typeface="Inter" pitchFamily="34" charset="-122"/>
                <a:cs typeface="Inter" pitchFamily="34" charset="-120"/>
              </a:rPr>
              <a:t>One deterministic engine runs both rules in the CRE workflows, the CCV Judge and the backtester.</a:t>
            </a:r>
            <a:endParaRPr lang="en-US" sz="1400" dirty="0"/>
          </a:p>
        </p:txBody>
      </p:sp>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475488"/>
            <a:ext cx="8229600" cy="237744"/>
          </a:xfrm>
          <a:prstGeom prst="rect">
            <a:avLst/>
          </a:prstGeom>
          <a:noFill/>
          <a:ln/>
        </p:spPr>
        <p:txBody>
          <a:bodyPr wrap="square" lIns="0" tIns="0" rIns="0" bIns="0" rtlCol="0" anchor="ctr"/>
          <a:lstStyle/>
          <a:p>
            <a:pPr algn="l" indent="0" marL="0">
              <a:lnSpc>
                <a:spcPct val="112000"/>
              </a:lnSpc>
              <a:buNone/>
            </a:pPr>
            <a:r>
              <a:rPr lang="en-US" sz="1100" b="1" spc="300" kern="0" dirty="0">
                <a:solidFill>
                  <a:srgbClr val="2DD4BF"/>
                </a:solidFill>
                <a:latin typeface="JetBrains Mono" pitchFamily="34" charset="0"/>
                <a:ea typeface="JetBrains Mono" pitchFamily="34" charset="-122"/>
                <a:cs typeface="JetBrains Mono" pitchFamily="34" charset="-120"/>
              </a:rPr>
              <a:t>DEMO  ·  THE KELP REPLAY, REFUSED</a:t>
            </a:r>
            <a:endParaRPr lang="en-US" sz="1100" dirty="0"/>
          </a:p>
        </p:txBody>
      </p:sp>
      <p:sp>
        <p:nvSpPr>
          <p:cNvPr id="3" name="Shape 1"/>
          <p:cNvSpPr/>
          <p:nvPr/>
        </p:nvSpPr>
        <p:spPr>
          <a:xfrm>
            <a:off x="8976208" y="457200"/>
            <a:ext cx="1874520" cy="274320"/>
          </a:xfrm>
          <a:prstGeom prst="roundRect">
            <a:avLst>
              <a:gd name="adj" fmla="val 50000"/>
            </a:avLst>
          </a:prstGeom>
          <a:solidFill>
            <a:srgbClr val="1D1830"/>
          </a:solidFill>
          <a:ln w="9525">
            <a:solidFill>
              <a:srgbClr val="4A3D73"/>
            </a:solidFill>
            <a:prstDash val="solid"/>
          </a:ln>
        </p:spPr>
      </p:sp>
      <p:sp>
        <p:nvSpPr>
          <p:cNvPr id="4" name="Shape 2"/>
          <p:cNvSpPr/>
          <p:nvPr/>
        </p:nvSpPr>
        <p:spPr>
          <a:xfrm>
            <a:off x="9095080" y="557784"/>
            <a:ext cx="73152" cy="73152"/>
          </a:xfrm>
          <a:prstGeom prst="ellipse">
            <a:avLst/>
          </a:prstGeom>
          <a:solidFill>
            <a:srgbClr val="A78BFA"/>
          </a:solidFill>
          <a:ln/>
        </p:spPr>
      </p:sp>
      <p:sp>
        <p:nvSpPr>
          <p:cNvPr id="5" name="Text 3"/>
          <p:cNvSpPr txBox="1"/>
          <p:nvPr/>
        </p:nvSpPr>
        <p:spPr>
          <a:xfrm>
            <a:off x="9232240" y="457200"/>
            <a:ext cx="1581912" cy="274320"/>
          </a:xfrm>
          <a:prstGeom prst="rect">
            <a:avLst/>
          </a:prstGeom>
          <a:noFill/>
          <a:ln/>
        </p:spPr>
        <p:txBody>
          <a:bodyPr wrap="square" lIns="0" tIns="0" rIns="0" bIns="0" rtlCol="0" anchor="ctr"/>
          <a:lstStyle/>
          <a:p>
            <a:pPr algn="l" indent="0" marL="0">
              <a:lnSpc>
                <a:spcPct val="112000"/>
              </a:lnSpc>
              <a:buNone/>
            </a:pPr>
            <a:r>
              <a:rPr lang="en-US" sz="1000" b="1" spc="100" kern="0" dirty="0">
                <a:solidFill>
                  <a:srgbClr val="A78BFA"/>
                </a:solidFill>
                <a:latin typeface="JetBrains Mono" pitchFamily="34" charset="0"/>
                <a:ea typeface="JetBrains Mono" pitchFamily="34" charset="-122"/>
                <a:cs typeface="JetBrains Mono" pitchFamily="34" charset="-120"/>
              </a:rPr>
              <a:t>TESTNET SIMULATION</a:t>
            </a:r>
            <a:endParaRPr lang="en-US" sz="1000" dirty="0"/>
          </a:p>
        </p:txBody>
      </p:sp>
      <p:sp>
        <p:nvSpPr>
          <p:cNvPr id="6" name="Video frame"/>
          <p:cNvSpPr/>
          <p:nvPr/>
        </p:nvSpPr>
        <p:spPr>
          <a:xfrm>
            <a:off x="1267816" y="822960"/>
            <a:ext cx="9656064" cy="5495544"/>
          </a:xfrm>
          <a:prstGeom prst="roundRect">
            <a:avLst>
              <a:gd name="adj" fmla="val 2662"/>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pic>
        <p:nvPicPr>
          <p:cNvPr id="7" name="Demo placeholder frame" descr="Placeholder for the demo recording">    </p:cNvPr>
          <p:cNvPicPr>
            <a:picLocks noChangeAspect="1"/>
          </p:cNvPicPr>
          <p:nvPr/>
        </p:nvPicPr>
        <p:blipFill>
          <a:blip r:embed="rId1"/>
          <a:stretch>
            <a:fillRect/>
          </a:stretch>
        </p:blipFill>
        <p:spPr>
          <a:xfrm>
            <a:off x="1340968" y="896112"/>
            <a:ext cx="9509760" cy="5349240"/>
          </a:xfrm>
          <a:prstGeom prst="rect">
            <a:avLst/>
          </a:prstGeom>
        </p:spPr>
      </p:pic>
      <p:sp>
        <p:nvSpPr>
          <p:cNvPr id="8" name="Shape 5"/>
          <p:cNvSpPr/>
          <p:nvPr/>
        </p:nvSpPr>
        <p:spPr>
          <a:xfrm>
            <a:off x="5638648" y="2884932"/>
            <a:ext cx="914400" cy="914400"/>
          </a:xfrm>
          <a:prstGeom prst="ellipse">
            <a:avLst/>
          </a:prstGeom>
          <a:solidFill>
            <a:srgbClr val="0B0D10"/>
          </a:solidFill>
          <a:ln w="19050">
            <a:solidFill>
              <a:srgbClr val="2DD4BF"/>
            </a:solidFill>
            <a:prstDash val="solid"/>
          </a:ln>
        </p:spPr>
      </p:sp>
      <p:sp>
        <p:nvSpPr>
          <p:cNvPr id="9" name="Play glyph"/>
          <p:cNvSpPr/>
          <p:nvPr/>
        </p:nvSpPr>
        <p:spPr>
          <a:xfrm rot="5400000">
            <a:off x="5976976" y="3177540"/>
            <a:ext cx="329184" cy="329184"/>
          </a:xfrm>
          <a:prstGeom prst="triangle">
            <a:avLst/>
          </a:prstGeom>
          <a:solidFill>
            <a:srgbClr val="2DD4BF"/>
          </a:solidFill>
          <a:ln/>
        </p:spPr>
      </p:sp>
      <p:sp>
        <p:nvSpPr>
          <p:cNvPr id="10" name="Text 7"/>
          <p:cNvSpPr txBox="1"/>
          <p:nvPr/>
        </p:nvSpPr>
        <p:spPr>
          <a:xfrm>
            <a:off x="1340968" y="4000500"/>
            <a:ext cx="9509760" cy="384048"/>
          </a:xfrm>
          <a:prstGeom prst="rect">
            <a:avLst/>
          </a:prstGeom>
          <a:noFill/>
          <a:ln/>
        </p:spPr>
        <p:txBody>
          <a:bodyPr wrap="square" lIns="0" tIns="0" rIns="0" bIns="0" rtlCol="0" anchor="ctr"/>
          <a:lstStyle/>
          <a:p>
            <a:pPr algn="ctr" indent="0" marL="0">
              <a:lnSpc>
                <a:spcPct val="112000"/>
              </a:lnSpc>
              <a:buNone/>
            </a:pPr>
            <a:r>
              <a:rPr lang="en-US" sz="2200" dirty="0">
                <a:solidFill>
                  <a:srgbClr val="E7EAEE"/>
                </a:solidFill>
                <a:latin typeface="Inter SemiBold" pitchFamily="34" charset="0"/>
                <a:ea typeface="Inter SemiBold" pitchFamily="34" charset="-122"/>
                <a:cs typeface="Inter SemiBold" pitchFamily="34" charset="-120"/>
              </a:rPr>
              <a:t>Demo recording</a:t>
            </a:r>
            <a:endParaRPr lang="en-US" sz="2200" dirty="0"/>
          </a:p>
        </p:txBody>
      </p:sp>
      <p:sp>
        <p:nvSpPr>
          <p:cNvPr id="11" name="Text 8"/>
          <p:cNvSpPr txBox="1"/>
          <p:nvPr/>
        </p:nvSpPr>
        <p:spPr>
          <a:xfrm>
            <a:off x="1340968" y="4402836"/>
            <a:ext cx="9509760" cy="274320"/>
          </a:xfrm>
          <a:prstGeom prst="rect">
            <a:avLst/>
          </a:prstGeom>
          <a:noFill/>
          <a:ln/>
        </p:spPr>
        <p:txBody>
          <a:bodyPr wrap="square" lIns="0" tIns="0" rIns="0" bIns="0" rtlCol="0" anchor="t"/>
          <a:lstStyle/>
          <a:p>
            <a:pPr algn="ctr" indent="0" marL="0">
              <a:lnSpc>
                <a:spcPct val="112000"/>
              </a:lnSpc>
              <a:buNone/>
            </a:pPr>
            <a:r>
              <a:rPr lang="en-US" sz="1400" dirty="0">
                <a:solidFill>
                  <a:srgbClr val="9AA3AF"/>
                </a:solidFill>
                <a:latin typeface="Inter" pitchFamily="34" charset="0"/>
                <a:ea typeface="Inter" pitchFamily="34" charset="-122"/>
                <a:cs typeface="Inter" pitchFamily="34" charset="-120"/>
              </a:rPr>
              <a:t>Rebuild the deck once media/video/kirchhoff-demo.mp4 exists to embed it here.</a:t>
            </a:r>
            <a:endParaRPr lang="en-US" sz="1400" dirty="0"/>
          </a:p>
        </p:txBody>
      </p:sp>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475488"/>
            <a:ext cx="8229600" cy="237744"/>
          </a:xfrm>
          <a:prstGeom prst="rect">
            <a:avLst/>
          </a:prstGeom>
          <a:noFill/>
          <a:ln/>
        </p:spPr>
        <p:txBody>
          <a:bodyPr wrap="square" lIns="0" tIns="0" rIns="0" bIns="0" rtlCol="0" anchor="ctr"/>
          <a:lstStyle/>
          <a:p>
            <a:pPr algn="l" indent="0" marL="0">
              <a:lnSpc>
                <a:spcPct val="112000"/>
              </a:lnSpc>
              <a:buNone/>
            </a:pPr>
            <a:r>
              <a:rPr lang="en-US" sz="1100" b="1" spc="300" kern="0" dirty="0">
                <a:solidFill>
                  <a:srgbClr val="2DD4BF"/>
                </a:solidFill>
                <a:latin typeface="JetBrains Mono" pitchFamily="34" charset="0"/>
                <a:ea typeface="JetBrains Mono" pitchFamily="34" charset="-122"/>
                <a:cs typeface="JetBrains Mono" pitchFamily="34" charset="-120"/>
              </a:rPr>
              <a:t>HOW IT WORKS</a:t>
            </a:r>
            <a:endParaRPr lang="en-US" sz="1100" dirty="0"/>
          </a:p>
        </p:txBody>
      </p:sp>
      <p:sp>
        <p:nvSpPr>
          <p:cNvPr id="3" name="Text 0"/>
          <p:cNvSpPr/>
          <p:nvPr>
            <p:ph idx="100" type="title" hasCustomPrompt="1"/>
          </p:nvPr>
        </p:nvSpPr>
        <p:spPr>
          <a:xfrm>
            <a:off x="548640" y="768096"/>
            <a:ext cx="11094415" cy="713232"/>
          </a:xfrm>
          <a:prstGeom prst="rect">
            <a:avLst/>
          </a:prstGeom>
          <a:noFill/>
          <a:ln/>
        </p:spPr>
        <p:txBody>
          <a:bodyPr wrap="square" lIns="0" tIns="0" rIns="0" bIns="0" rtlCol="0" anchor="t"/>
          <a:lstStyle/>
          <a:p>
            <a:pPr algn="l" indent="0" marL="0">
              <a:buNone/>
            </a:pPr>
            <a:r>
              <a:rPr lang="en-US" sz="3600" spc="-50" kern="0" dirty="0">
                <a:solidFill>
                  <a:srgbClr val="E7EAEE"/>
                </a:solidFill>
                <a:latin typeface="Inter SemiBold" pitchFamily="34" charset="0"/>
                <a:ea typeface="Inter SemiBold" pitchFamily="34" charset="-122"/>
                <a:cs typeface="Inter SemiBold" pitchFamily="34" charset="-120"/>
              </a:rPr>
              <a:t>Consensus reads in, signed verdicts out</a:t>
            </a:r>
            <a:endParaRPr lang="en-US" sz="3600" dirty="0"/>
          </a:p>
        </p:txBody>
      </p:sp>
      <p:sp>
        <p:nvSpPr>
          <p:cNvPr id="4" name="CRE Conservation Engine"/>
          <p:cNvSpPr/>
          <p:nvPr/>
        </p:nvSpPr>
        <p:spPr>
          <a:xfrm>
            <a:off x="548640" y="1783080"/>
            <a:ext cx="3200400" cy="2971800"/>
          </a:xfrm>
          <a:prstGeom prst="roundRect">
            <a:avLst>
              <a:gd name="adj" fmla="val 4308"/>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5" name="Text 3"/>
          <p:cNvSpPr txBox="1"/>
          <p:nvPr/>
        </p:nvSpPr>
        <p:spPr>
          <a:xfrm>
            <a:off x="822960" y="2002536"/>
            <a:ext cx="2651760" cy="219456"/>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2DD4BF"/>
                </a:solidFill>
                <a:latin typeface="JetBrains Mono" pitchFamily="34" charset="0"/>
                <a:ea typeface="JetBrains Mono" pitchFamily="34" charset="-122"/>
                <a:cs typeface="JetBrains Mono" pitchFamily="34" charset="-120"/>
              </a:rPr>
              <a:t>CHAINLINK CRE</a:t>
            </a:r>
            <a:endParaRPr lang="en-US" sz="1000" dirty="0"/>
          </a:p>
        </p:txBody>
      </p:sp>
      <p:sp>
        <p:nvSpPr>
          <p:cNvPr id="6" name="Text 4"/>
          <p:cNvSpPr txBox="1"/>
          <p:nvPr/>
        </p:nvSpPr>
        <p:spPr>
          <a:xfrm>
            <a:off x="822960" y="2240280"/>
            <a:ext cx="2651760" cy="292608"/>
          </a:xfrm>
          <a:prstGeom prst="rect">
            <a:avLst/>
          </a:prstGeom>
          <a:noFill/>
          <a:ln/>
        </p:spPr>
        <p:txBody>
          <a:bodyPr wrap="square" lIns="0" tIns="0" rIns="0" bIns="0" rtlCol="0" anchor="t"/>
          <a:lstStyle/>
          <a:p>
            <a:pPr algn="l" indent="0" marL="0">
              <a:lnSpc>
                <a:spcPct val="112000"/>
              </a:lnSpc>
              <a:buNone/>
            </a:pPr>
            <a:r>
              <a:rPr lang="en-US" sz="1600" dirty="0">
                <a:solidFill>
                  <a:srgbClr val="E7EAEE"/>
                </a:solidFill>
                <a:latin typeface="Inter SemiBold" pitchFamily="34" charset="0"/>
                <a:ea typeface="Inter SemiBold" pitchFamily="34" charset="-122"/>
                <a:cs typeface="Inter SemiBold" pitchFamily="34" charset="-120"/>
              </a:rPr>
              <a:t>Conservation Engine</a:t>
            </a:r>
            <a:endParaRPr lang="en-US" sz="1600" dirty="0"/>
          </a:p>
        </p:txBody>
      </p:sp>
      <p:sp>
        <p:nvSpPr>
          <p:cNvPr id="7" name="Shape 5"/>
          <p:cNvSpPr/>
          <p:nvPr/>
        </p:nvSpPr>
        <p:spPr>
          <a:xfrm>
            <a:off x="731520" y="2697480"/>
            <a:ext cx="2834640" cy="457200"/>
          </a:xfrm>
          <a:prstGeom prst="roundRect">
            <a:avLst>
              <a:gd name="adj" fmla="val 16000"/>
            </a:avLst>
          </a:prstGeom>
          <a:solidFill>
            <a:srgbClr val="181C22"/>
          </a:solidFill>
          <a:ln w="9525">
            <a:solidFill>
              <a:srgbClr val="2A313B"/>
            </a:solidFill>
            <a:prstDash val="solid"/>
          </a:ln>
        </p:spPr>
      </p:sp>
      <p:sp>
        <p:nvSpPr>
          <p:cNvPr id="8" name="Text 6"/>
          <p:cNvSpPr txBox="1"/>
          <p:nvPr/>
        </p:nvSpPr>
        <p:spPr>
          <a:xfrm>
            <a:off x="877824" y="2761488"/>
            <a:ext cx="365760" cy="201168"/>
          </a:xfrm>
          <a:prstGeom prst="rect">
            <a:avLst/>
          </a:prstGeom>
          <a:noFill/>
          <a:ln/>
        </p:spPr>
        <p:txBody>
          <a:bodyPr wrap="square" lIns="0" tIns="0" rIns="0" bIns="0" rtlCol="0" anchor="t"/>
          <a:lstStyle/>
          <a:p>
            <a:pPr algn="l" indent="0" marL="0">
              <a:lnSpc>
                <a:spcPct val="112000"/>
              </a:lnSpc>
              <a:buNone/>
            </a:pPr>
            <a:r>
              <a:rPr lang="en-US" sz="1100" b="1" dirty="0">
                <a:solidFill>
                  <a:srgbClr val="2DD4BF"/>
                </a:solidFill>
                <a:latin typeface="JetBrains Mono" pitchFamily="34" charset="0"/>
                <a:ea typeface="JetBrains Mono" pitchFamily="34" charset="-122"/>
                <a:cs typeface="JetBrains Mono" pitchFamily="34" charset="-120"/>
              </a:rPr>
              <a:t>W1</a:t>
            </a:r>
            <a:endParaRPr lang="en-US" sz="1100" dirty="0"/>
          </a:p>
        </p:txBody>
      </p:sp>
      <p:sp>
        <p:nvSpPr>
          <p:cNvPr id="9" name="Text 7"/>
          <p:cNvSpPr txBox="1"/>
          <p:nvPr/>
        </p:nvSpPr>
        <p:spPr>
          <a:xfrm>
            <a:off x="1261872" y="2752344"/>
            <a:ext cx="2176272" cy="201168"/>
          </a:xfrm>
          <a:prstGeom prst="rect">
            <a:avLst/>
          </a:prstGeom>
          <a:noFill/>
          <a:ln/>
        </p:spPr>
        <p:txBody>
          <a:bodyPr wrap="square" lIns="0" tIns="0" rIns="0" bIns="0" rtlCol="0" anchor="ctr"/>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Junction Watch</a:t>
            </a:r>
            <a:endParaRPr lang="en-US" sz="1400" dirty="0"/>
          </a:p>
        </p:txBody>
      </p:sp>
      <p:sp>
        <p:nvSpPr>
          <p:cNvPr id="10" name="Text 8"/>
          <p:cNvSpPr txBox="1"/>
          <p:nvPr/>
        </p:nvSpPr>
        <p:spPr>
          <a:xfrm>
            <a:off x="1261872" y="2953512"/>
            <a:ext cx="2176272" cy="164592"/>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credit to debit, same run</a:t>
            </a:r>
            <a:endParaRPr lang="en-US" sz="1000" dirty="0"/>
          </a:p>
        </p:txBody>
      </p:sp>
      <p:sp>
        <p:nvSpPr>
          <p:cNvPr id="11" name="Shape 9"/>
          <p:cNvSpPr/>
          <p:nvPr/>
        </p:nvSpPr>
        <p:spPr>
          <a:xfrm>
            <a:off x="731520" y="3209544"/>
            <a:ext cx="2834640" cy="457200"/>
          </a:xfrm>
          <a:prstGeom prst="roundRect">
            <a:avLst>
              <a:gd name="adj" fmla="val 16000"/>
            </a:avLst>
          </a:prstGeom>
          <a:solidFill>
            <a:srgbClr val="181C22"/>
          </a:solidFill>
          <a:ln w="9525">
            <a:solidFill>
              <a:srgbClr val="2A313B"/>
            </a:solidFill>
            <a:prstDash val="solid"/>
          </a:ln>
        </p:spPr>
      </p:sp>
      <p:sp>
        <p:nvSpPr>
          <p:cNvPr id="12" name="Text 10"/>
          <p:cNvSpPr txBox="1"/>
          <p:nvPr/>
        </p:nvSpPr>
        <p:spPr>
          <a:xfrm>
            <a:off x="877824" y="3273552"/>
            <a:ext cx="365760" cy="201168"/>
          </a:xfrm>
          <a:prstGeom prst="rect">
            <a:avLst/>
          </a:prstGeom>
          <a:noFill/>
          <a:ln/>
        </p:spPr>
        <p:txBody>
          <a:bodyPr wrap="square" lIns="0" tIns="0" rIns="0" bIns="0" rtlCol="0" anchor="t"/>
          <a:lstStyle/>
          <a:p>
            <a:pPr algn="l" indent="0" marL="0">
              <a:lnSpc>
                <a:spcPct val="112000"/>
              </a:lnSpc>
              <a:buNone/>
            </a:pPr>
            <a:r>
              <a:rPr lang="en-US" sz="1100" b="1" dirty="0">
                <a:solidFill>
                  <a:srgbClr val="2DD4BF"/>
                </a:solidFill>
                <a:latin typeface="JetBrains Mono" pitchFamily="34" charset="0"/>
                <a:ea typeface="JetBrains Mono" pitchFamily="34" charset="-122"/>
                <a:cs typeface="JetBrains Mono" pitchFamily="34" charset="-120"/>
              </a:rPr>
              <a:t>W2</a:t>
            </a:r>
            <a:endParaRPr lang="en-US" sz="1100" dirty="0"/>
          </a:p>
        </p:txBody>
      </p:sp>
      <p:sp>
        <p:nvSpPr>
          <p:cNvPr id="13" name="Text 11"/>
          <p:cNvSpPr txBox="1"/>
          <p:nvPr/>
        </p:nvSpPr>
        <p:spPr>
          <a:xfrm>
            <a:off x="1261872" y="3264408"/>
            <a:ext cx="2176272" cy="201168"/>
          </a:xfrm>
          <a:prstGeom prst="rect">
            <a:avLst/>
          </a:prstGeom>
          <a:noFill/>
          <a:ln/>
        </p:spPr>
        <p:txBody>
          <a:bodyPr wrap="square" lIns="0" tIns="0" rIns="0" bIns="0" rtlCol="0" anchor="ctr"/>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Loop Ledger</a:t>
            </a:r>
            <a:endParaRPr lang="en-US" sz="1400" dirty="0"/>
          </a:p>
        </p:txBody>
      </p:sp>
      <p:sp>
        <p:nvSpPr>
          <p:cNvPr id="14" name="Text 12"/>
          <p:cNvSpPr txBox="1"/>
          <p:nvPr/>
        </p:nvSpPr>
        <p:spPr>
          <a:xfrm>
            <a:off x="1261872" y="3465576"/>
            <a:ext cx="2176272" cy="164592"/>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Δ on all chains, 30 s cron</a:t>
            </a:r>
            <a:endParaRPr lang="en-US" sz="1000" dirty="0"/>
          </a:p>
        </p:txBody>
      </p:sp>
      <p:sp>
        <p:nvSpPr>
          <p:cNvPr id="15" name="Shape 13"/>
          <p:cNvSpPr/>
          <p:nvPr/>
        </p:nvSpPr>
        <p:spPr>
          <a:xfrm>
            <a:off x="731520" y="3721608"/>
            <a:ext cx="2834640" cy="457200"/>
          </a:xfrm>
          <a:prstGeom prst="roundRect">
            <a:avLst>
              <a:gd name="adj" fmla="val 16000"/>
            </a:avLst>
          </a:prstGeom>
          <a:solidFill>
            <a:srgbClr val="181C22"/>
          </a:solidFill>
          <a:ln w="9525">
            <a:solidFill>
              <a:srgbClr val="2A313B"/>
            </a:solidFill>
            <a:prstDash val="solid"/>
          </a:ln>
        </p:spPr>
      </p:sp>
      <p:sp>
        <p:nvSpPr>
          <p:cNvPr id="16" name="Text 14"/>
          <p:cNvSpPr txBox="1"/>
          <p:nvPr/>
        </p:nvSpPr>
        <p:spPr>
          <a:xfrm>
            <a:off x="877824" y="3785616"/>
            <a:ext cx="365760" cy="201168"/>
          </a:xfrm>
          <a:prstGeom prst="rect">
            <a:avLst/>
          </a:prstGeom>
          <a:noFill/>
          <a:ln/>
        </p:spPr>
        <p:txBody>
          <a:bodyPr wrap="square" lIns="0" tIns="0" rIns="0" bIns="0" rtlCol="0" anchor="t"/>
          <a:lstStyle/>
          <a:p>
            <a:pPr algn="l" indent="0" marL="0">
              <a:lnSpc>
                <a:spcPct val="112000"/>
              </a:lnSpc>
              <a:buNone/>
            </a:pPr>
            <a:r>
              <a:rPr lang="en-US" sz="1100" b="1" dirty="0">
                <a:solidFill>
                  <a:srgbClr val="2DD4BF"/>
                </a:solidFill>
                <a:latin typeface="JetBrains Mono" pitchFamily="34" charset="0"/>
                <a:ea typeface="JetBrains Mono" pitchFamily="34" charset="-122"/>
                <a:cs typeface="JetBrains Mono" pitchFamily="34" charset="-120"/>
              </a:rPr>
              <a:t>W3</a:t>
            </a:r>
            <a:endParaRPr lang="en-US" sz="1100" dirty="0"/>
          </a:p>
        </p:txBody>
      </p:sp>
      <p:sp>
        <p:nvSpPr>
          <p:cNvPr id="17" name="Text 15"/>
          <p:cNvSpPr txBox="1"/>
          <p:nvPr/>
        </p:nvSpPr>
        <p:spPr>
          <a:xfrm>
            <a:off x="1261872" y="3776472"/>
            <a:ext cx="2176272" cy="201168"/>
          </a:xfrm>
          <a:prstGeom prst="rect">
            <a:avLst/>
          </a:prstGeom>
          <a:noFill/>
          <a:ln/>
        </p:spPr>
        <p:txBody>
          <a:bodyPr wrap="square" lIns="0" tIns="0" rIns="0" bIns="0" rtlCol="0" anchor="ctr"/>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Responder</a:t>
            </a:r>
            <a:endParaRPr lang="en-US" sz="1400" dirty="0"/>
          </a:p>
        </p:txBody>
      </p:sp>
      <p:sp>
        <p:nvSpPr>
          <p:cNvPr id="18" name="Text 16"/>
          <p:cNvSpPr txBox="1"/>
          <p:nvPr/>
        </p:nvSpPr>
        <p:spPr>
          <a:xfrm>
            <a:off x="1261872" y="3977640"/>
            <a:ext cx="2176272" cy="164592"/>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quarantine on breach</a:t>
            </a:r>
            <a:endParaRPr lang="en-US" sz="1000" dirty="0"/>
          </a:p>
        </p:txBody>
      </p:sp>
      <p:sp>
        <p:nvSpPr>
          <p:cNvPr id="19" name="Shape 17"/>
          <p:cNvSpPr/>
          <p:nvPr/>
        </p:nvSpPr>
        <p:spPr>
          <a:xfrm>
            <a:off x="731520" y="4233672"/>
            <a:ext cx="2834640" cy="457200"/>
          </a:xfrm>
          <a:prstGeom prst="roundRect">
            <a:avLst>
              <a:gd name="adj" fmla="val 16000"/>
            </a:avLst>
          </a:prstGeom>
          <a:solidFill>
            <a:srgbClr val="181C22"/>
          </a:solidFill>
          <a:ln w="9525">
            <a:solidFill>
              <a:srgbClr val="2A313B"/>
            </a:solidFill>
            <a:prstDash val="solid"/>
          </a:ln>
        </p:spPr>
      </p:sp>
      <p:sp>
        <p:nvSpPr>
          <p:cNvPr id="20" name="Text 18"/>
          <p:cNvSpPr txBox="1"/>
          <p:nvPr/>
        </p:nvSpPr>
        <p:spPr>
          <a:xfrm>
            <a:off x="877824" y="4297680"/>
            <a:ext cx="365760" cy="201168"/>
          </a:xfrm>
          <a:prstGeom prst="rect">
            <a:avLst/>
          </a:prstGeom>
          <a:noFill/>
          <a:ln/>
        </p:spPr>
        <p:txBody>
          <a:bodyPr wrap="square" lIns="0" tIns="0" rIns="0" bIns="0" rtlCol="0" anchor="t"/>
          <a:lstStyle/>
          <a:p>
            <a:pPr algn="l" indent="0" marL="0">
              <a:lnSpc>
                <a:spcPct val="112000"/>
              </a:lnSpc>
              <a:buNone/>
            </a:pPr>
            <a:r>
              <a:rPr lang="en-US" sz="1100" b="1" dirty="0">
                <a:solidFill>
                  <a:srgbClr val="2DD4BF"/>
                </a:solidFill>
                <a:latin typeface="JetBrains Mono" pitchFamily="34" charset="0"/>
                <a:ea typeface="JetBrains Mono" pitchFamily="34" charset="-122"/>
                <a:cs typeface="JetBrains Mono" pitchFamily="34" charset="-120"/>
              </a:rPr>
              <a:t>W4</a:t>
            </a:r>
            <a:endParaRPr lang="en-US" sz="1100" dirty="0"/>
          </a:p>
        </p:txBody>
      </p:sp>
      <p:sp>
        <p:nvSpPr>
          <p:cNvPr id="21" name="Text 19"/>
          <p:cNvSpPr txBox="1"/>
          <p:nvPr/>
        </p:nvSpPr>
        <p:spPr>
          <a:xfrm>
            <a:off x="1261872" y="4288536"/>
            <a:ext cx="2176272" cy="201168"/>
          </a:xfrm>
          <a:prstGeom prst="rect">
            <a:avLst/>
          </a:prstGeom>
          <a:noFill/>
          <a:ln/>
        </p:spPr>
        <p:txBody>
          <a:bodyPr wrap="square" lIns="0" tIns="0" rIns="0" bIns="0" rtlCol="0" anchor="ctr"/>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Topology Watch</a:t>
            </a:r>
            <a:endParaRPr lang="en-US" sz="1400" dirty="0"/>
          </a:p>
        </p:txBody>
      </p:sp>
      <p:sp>
        <p:nvSpPr>
          <p:cNvPr id="22" name="Text 20"/>
          <p:cNvSpPr txBox="1"/>
          <p:nvPr/>
        </p:nvSpPr>
        <p:spPr>
          <a:xfrm>
            <a:off x="1261872" y="4489704"/>
            <a:ext cx="2176272" cy="164592"/>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unlisted minters, spec</a:t>
            </a:r>
            <a:endParaRPr lang="en-US" sz="1000" dirty="0"/>
          </a:p>
        </p:txBody>
      </p:sp>
      <p:sp>
        <p:nvSpPr>
          <p:cNvPr id="23" name="Onchain ledger and feed"/>
          <p:cNvSpPr/>
          <p:nvPr/>
        </p:nvSpPr>
        <p:spPr>
          <a:xfrm>
            <a:off x="4495648" y="1783080"/>
            <a:ext cx="3200400" cy="2971800"/>
          </a:xfrm>
          <a:prstGeom prst="roundRect">
            <a:avLst>
              <a:gd name="adj" fmla="val 4308"/>
            </a:avLst>
          </a:prstGeom>
          <a:solidFill>
            <a:srgbClr val="12151A"/>
          </a:solidFill>
          <a:ln w="15875">
            <a:solidFill>
              <a:srgbClr val="1C5F57"/>
            </a:solidFill>
            <a:prstDash val="solid"/>
          </a:ln>
          <a:effectLst>
            <a:outerShdw sx="100000" sy="100000" kx="0" ky="0" algn="bl" rotWithShape="0" blurRad="177800" dist="50800" dir="5400000">
              <a:srgbClr val="000000">
                <a:alpha val="45000"/>
              </a:srgbClr>
            </a:outerShdw>
          </a:effectLst>
        </p:spPr>
      </p:sp>
      <p:sp>
        <p:nvSpPr>
          <p:cNvPr id="24" name="Text 22"/>
          <p:cNvSpPr txBox="1"/>
          <p:nvPr/>
        </p:nvSpPr>
        <p:spPr>
          <a:xfrm>
            <a:off x="4769968" y="2002536"/>
            <a:ext cx="2651760" cy="219456"/>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2DD4BF"/>
                </a:solidFill>
                <a:latin typeface="JetBrains Mono" pitchFamily="34" charset="0"/>
                <a:ea typeface="JetBrains Mono" pitchFamily="34" charset="-122"/>
                <a:cs typeface="JetBrains Mono" pitchFamily="34" charset="-120"/>
              </a:rPr>
              <a:t>ONCHAIN  ·  EVERY CHAIN</a:t>
            </a:r>
            <a:endParaRPr lang="en-US" sz="1000" dirty="0"/>
          </a:p>
        </p:txBody>
      </p:sp>
      <p:sp>
        <p:nvSpPr>
          <p:cNvPr id="25" name="Text 23"/>
          <p:cNvSpPr txBox="1"/>
          <p:nvPr/>
        </p:nvSpPr>
        <p:spPr>
          <a:xfrm>
            <a:off x="4769968" y="2240280"/>
            <a:ext cx="2651760" cy="292608"/>
          </a:xfrm>
          <a:prstGeom prst="rect">
            <a:avLst/>
          </a:prstGeom>
          <a:noFill/>
          <a:ln/>
        </p:spPr>
        <p:txBody>
          <a:bodyPr wrap="square" lIns="0" tIns="0" rIns="0" bIns="0" rtlCol="0" anchor="t"/>
          <a:lstStyle/>
          <a:p>
            <a:pPr algn="l" indent="0" marL="0">
              <a:lnSpc>
                <a:spcPct val="112000"/>
              </a:lnSpc>
              <a:buNone/>
            </a:pPr>
            <a:r>
              <a:rPr lang="en-US" sz="1600" dirty="0">
                <a:solidFill>
                  <a:srgbClr val="E7EAEE"/>
                </a:solidFill>
                <a:latin typeface="Inter SemiBold" pitchFamily="34" charset="0"/>
                <a:ea typeface="Inter SemiBold" pitchFamily="34" charset="-122"/>
                <a:cs typeface="Inter SemiBold" pitchFamily="34" charset="-120"/>
              </a:rPr>
              <a:t>Ledger, Feed, Quarantine</a:t>
            </a:r>
            <a:endParaRPr lang="en-US" sz="1600" dirty="0"/>
          </a:p>
        </p:txBody>
      </p:sp>
      <p:sp>
        <p:nvSpPr>
          <p:cNvPr id="26" name="Shape 24"/>
          <p:cNvSpPr/>
          <p:nvPr/>
        </p:nvSpPr>
        <p:spPr>
          <a:xfrm>
            <a:off x="4678528" y="2697480"/>
            <a:ext cx="2834640" cy="566928"/>
          </a:xfrm>
          <a:prstGeom prst="roundRect">
            <a:avLst>
              <a:gd name="adj" fmla="val 12903"/>
            </a:avLst>
          </a:prstGeom>
          <a:solidFill>
            <a:srgbClr val="181C22"/>
          </a:solidFill>
          <a:ln w="9525">
            <a:solidFill>
              <a:srgbClr val="2A313B"/>
            </a:solidFill>
            <a:prstDash val="solid"/>
          </a:ln>
        </p:spPr>
      </p:sp>
      <p:sp>
        <p:nvSpPr>
          <p:cNvPr id="27" name="Shape 25"/>
          <p:cNvSpPr/>
          <p:nvPr/>
        </p:nvSpPr>
        <p:spPr>
          <a:xfrm>
            <a:off x="4833976" y="2834640"/>
            <a:ext cx="91440" cy="91440"/>
          </a:xfrm>
          <a:prstGeom prst="ellipse">
            <a:avLst/>
          </a:prstGeom>
          <a:solidFill>
            <a:srgbClr val="2DD4BF"/>
          </a:solidFill>
          <a:ln/>
        </p:spPr>
      </p:sp>
      <p:sp>
        <p:nvSpPr>
          <p:cNvPr id="28" name="Text 26"/>
          <p:cNvSpPr txBox="1"/>
          <p:nvPr/>
        </p:nvSpPr>
        <p:spPr>
          <a:xfrm>
            <a:off x="5026000" y="2770632"/>
            <a:ext cx="2286000" cy="219456"/>
          </a:xfrm>
          <a:prstGeom prst="rect">
            <a:avLst/>
          </a:prstGeom>
          <a:noFill/>
          <a:ln/>
        </p:spPr>
        <p:txBody>
          <a:bodyPr wrap="square" lIns="0" tIns="0" rIns="0" bIns="0" rtlCol="0" anchor="ctr"/>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Ethereum Sepolia</a:t>
            </a:r>
            <a:endParaRPr lang="en-US" sz="1400" dirty="0"/>
          </a:p>
        </p:txBody>
      </p:sp>
      <p:sp>
        <p:nvSpPr>
          <p:cNvPr id="29" name="Text 27"/>
          <p:cNvSpPr txBox="1"/>
          <p:nvPr/>
        </p:nvSpPr>
        <p:spPr>
          <a:xfrm>
            <a:off x="5026000" y="3008376"/>
            <a:ext cx="2286000" cy="182880"/>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home  ·  escrow, Registry</a:t>
            </a:r>
            <a:endParaRPr lang="en-US" sz="1000" dirty="0"/>
          </a:p>
        </p:txBody>
      </p:sp>
      <p:sp>
        <p:nvSpPr>
          <p:cNvPr id="30" name="Shape 28"/>
          <p:cNvSpPr/>
          <p:nvPr/>
        </p:nvSpPr>
        <p:spPr>
          <a:xfrm>
            <a:off x="4678528" y="3383280"/>
            <a:ext cx="2834640" cy="566928"/>
          </a:xfrm>
          <a:prstGeom prst="roundRect">
            <a:avLst>
              <a:gd name="adj" fmla="val 12903"/>
            </a:avLst>
          </a:prstGeom>
          <a:solidFill>
            <a:srgbClr val="181C22"/>
          </a:solidFill>
          <a:ln w="9525">
            <a:solidFill>
              <a:srgbClr val="2A313B"/>
            </a:solidFill>
            <a:prstDash val="solid"/>
          </a:ln>
        </p:spPr>
      </p:sp>
      <p:sp>
        <p:nvSpPr>
          <p:cNvPr id="31" name="Shape 29"/>
          <p:cNvSpPr/>
          <p:nvPr/>
        </p:nvSpPr>
        <p:spPr>
          <a:xfrm>
            <a:off x="4833976" y="3520440"/>
            <a:ext cx="91440" cy="91440"/>
          </a:xfrm>
          <a:prstGeom prst="ellipse">
            <a:avLst/>
          </a:prstGeom>
          <a:solidFill>
            <a:srgbClr val="2DD4BF"/>
          </a:solidFill>
          <a:ln/>
        </p:spPr>
      </p:sp>
      <p:sp>
        <p:nvSpPr>
          <p:cNvPr id="32" name="Text 30"/>
          <p:cNvSpPr txBox="1"/>
          <p:nvPr/>
        </p:nvSpPr>
        <p:spPr>
          <a:xfrm>
            <a:off x="5026000" y="3456432"/>
            <a:ext cx="2286000" cy="219456"/>
          </a:xfrm>
          <a:prstGeom prst="rect">
            <a:avLst/>
          </a:prstGeom>
          <a:noFill/>
          <a:ln/>
        </p:spPr>
        <p:txBody>
          <a:bodyPr wrap="square" lIns="0" tIns="0" rIns="0" bIns="0" rtlCol="0" anchor="ctr"/>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Arbitrum Sepolia</a:t>
            </a:r>
            <a:endParaRPr lang="en-US" sz="1400" dirty="0"/>
          </a:p>
        </p:txBody>
      </p:sp>
      <p:sp>
        <p:nvSpPr>
          <p:cNvPr id="33" name="Text 31"/>
          <p:cNvSpPr txBox="1"/>
          <p:nvPr/>
        </p:nvSpPr>
        <p:spPr>
          <a:xfrm>
            <a:off x="5026000" y="3694176"/>
            <a:ext cx="2286000" cy="182880"/>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remote  ·  burn-mint pool</a:t>
            </a:r>
            <a:endParaRPr lang="en-US" sz="1000" dirty="0"/>
          </a:p>
        </p:txBody>
      </p:sp>
      <p:sp>
        <p:nvSpPr>
          <p:cNvPr id="34" name="Shape 32"/>
          <p:cNvSpPr/>
          <p:nvPr/>
        </p:nvSpPr>
        <p:spPr>
          <a:xfrm>
            <a:off x="4678528" y="4069080"/>
            <a:ext cx="2834640" cy="566928"/>
          </a:xfrm>
          <a:prstGeom prst="roundRect">
            <a:avLst>
              <a:gd name="adj" fmla="val 12903"/>
            </a:avLst>
          </a:prstGeom>
          <a:solidFill>
            <a:srgbClr val="181C22"/>
          </a:solidFill>
          <a:ln w="9525">
            <a:solidFill>
              <a:srgbClr val="2A313B"/>
            </a:solidFill>
            <a:prstDash val="solid"/>
          </a:ln>
        </p:spPr>
      </p:sp>
      <p:sp>
        <p:nvSpPr>
          <p:cNvPr id="35" name="Shape 33"/>
          <p:cNvSpPr/>
          <p:nvPr/>
        </p:nvSpPr>
        <p:spPr>
          <a:xfrm>
            <a:off x="4833976" y="4206240"/>
            <a:ext cx="91440" cy="91440"/>
          </a:xfrm>
          <a:prstGeom prst="ellipse">
            <a:avLst/>
          </a:prstGeom>
          <a:solidFill>
            <a:srgbClr val="2DD4BF"/>
          </a:solidFill>
          <a:ln/>
        </p:spPr>
      </p:sp>
      <p:sp>
        <p:nvSpPr>
          <p:cNvPr id="36" name="Text 34"/>
          <p:cNvSpPr txBox="1"/>
          <p:nvPr/>
        </p:nvSpPr>
        <p:spPr>
          <a:xfrm>
            <a:off x="5026000" y="4142232"/>
            <a:ext cx="2286000" cy="219456"/>
          </a:xfrm>
          <a:prstGeom prst="rect">
            <a:avLst/>
          </a:prstGeom>
          <a:noFill/>
          <a:ln/>
        </p:spPr>
        <p:txBody>
          <a:bodyPr wrap="square" lIns="0" tIns="0" rIns="0" bIns="0" rtlCol="0" anchor="ctr"/>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Base Sepolia</a:t>
            </a:r>
            <a:endParaRPr lang="en-US" sz="1400" dirty="0"/>
          </a:p>
        </p:txBody>
      </p:sp>
      <p:sp>
        <p:nvSpPr>
          <p:cNvPr id="37" name="Text 35"/>
          <p:cNvSpPr txBox="1"/>
          <p:nvPr/>
        </p:nvSpPr>
        <p:spPr>
          <a:xfrm>
            <a:off x="5026000" y="4379976"/>
            <a:ext cx="2286000" cy="182880"/>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remote  ·  burn-mint pool</a:t>
            </a:r>
            <a:endParaRPr lang="en-US" sz="1000" dirty="0"/>
          </a:p>
        </p:txBody>
      </p:sp>
      <p:sp>
        <p:nvSpPr>
          <p:cNvPr id="38" name="CCIP 2.0 enforcement"/>
          <p:cNvSpPr/>
          <p:nvPr/>
        </p:nvSpPr>
        <p:spPr>
          <a:xfrm>
            <a:off x="8442655" y="1783080"/>
            <a:ext cx="3200400" cy="2971800"/>
          </a:xfrm>
          <a:prstGeom prst="roundRect">
            <a:avLst>
              <a:gd name="adj" fmla="val 4308"/>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39" name="Text 37"/>
          <p:cNvSpPr txBox="1"/>
          <p:nvPr/>
        </p:nvSpPr>
        <p:spPr>
          <a:xfrm>
            <a:off x="8716975" y="2002536"/>
            <a:ext cx="2651760" cy="219456"/>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2DD4BF"/>
                </a:solidFill>
                <a:latin typeface="JetBrains Mono" pitchFamily="34" charset="0"/>
                <a:ea typeface="JetBrains Mono" pitchFamily="34" charset="-122"/>
                <a:cs typeface="JetBrains Mono" pitchFamily="34" charset="-120"/>
              </a:rPr>
              <a:t>CHAINLINK CCIP 2.0</a:t>
            </a:r>
            <a:endParaRPr lang="en-US" sz="1000" dirty="0"/>
          </a:p>
        </p:txBody>
      </p:sp>
      <p:sp>
        <p:nvSpPr>
          <p:cNvPr id="40" name="Text 38"/>
          <p:cNvSpPr txBox="1"/>
          <p:nvPr/>
        </p:nvSpPr>
        <p:spPr>
          <a:xfrm>
            <a:off x="8716975" y="2240280"/>
            <a:ext cx="2651760" cy="292608"/>
          </a:xfrm>
          <a:prstGeom prst="rect">
            <a:avLst/>
          </a:prstGeom>
          <a:noFill/>
          <a:ln/>
        </p:spPr>
        <p:txBody>
          <a:bodyPr wrap="square" lIns="0" tIns="0" rIns="0" bIns="0" rtlCol="0" anchor="t"/>
          <a:lstStyle/>
          <a:p>
            <a:pPr algn="l" indent="0" marL="0">
              <a:lnSpc>
                <a:spcPct val="112000"/>
              </a:lnSpc>
              <a:buNone/>
            </a:pPr>
            <a:r>
              <a:rPr lang="en-US" sz="1600" dirty="0">
                <a:solidFill>
                  <a:srgbClr val="E7EAEE"/>
                </a:solidFill>
                <a:latin typeface="Inter SemiBold" pitchFamily="34" charset="0"/>
                <a:ea typeface="Inter SemiBold" pitchFamily="34" charset="-122"/>
                <a:cs typeface="Inter SemiBold" pitchFamily="34" charset="-120"/>
              </a:rPr>
              <a:t>Enforcement</a:t>
            </a:r>
            <a:endParaRPr lang="en-US" sz="1600" dirty="0"/>
          </a:p>
        </p:txBody>
      </p:sp>
      <p:sp>
        <p:nvSpPr>
          <p:cNvPr id="41" name="Shape 39"/>
          <p:cNvSpPr/>
          <p:nvPr/>
        </p:nvSpPr>
        <p:spPr>
          <a:xfrm>
            <a:off x="8625535" y="2697480"/>
            <a:ext cx="2834640" cy="457200"/>
          </a:xfrm>
          <a:prstGeom prst="roundRect">
            <a:avLst>
              <a:gd name="adj" fmla="val 16000"/>
            </a:avLst>
          </a:prstGeom>
          <a:solidFill>
            <a:srgbClr val="181C22"/>
          </a:solidFill>
          <a:ln w="9525">
            <a:solidFill>
              <a:srgbClr val="2A313B"/>
            </a:solidFill>
            <a:prstDash val="solid"/>
          </a:ln>
        </p:spPr>
      </p:sp>
      <p:sp>
        <p:nvSpPr>
          <p:cNvPr id="42" name="Text 40"/>
          <p:cNvSpPr txBox="1"/>
          <p:nvPr/>
        </p:nvSpPr>
        <p:spPr>
          <a:xfrm>
            <a:off x="8771839" y="2752344"/>
            <a:ext cx="2560320" cy="201168"/>
          </a:xfrm>
          <a:prstGeom prst="rect">
            <a:avLst/>
          </a:prstGeom>
          <a:noFill/>
          <a:ln/>
        </p:spPr>
        <p:txBody>
          <a:bodyPr wrap="square" lIns="0" tIns="0" rIns="0" bIns="0" rtlCol="0" anchor="ctr"/>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CCV cell + Judge</a:t>
            </a:r>
            <a:endParaRPr lang="en-US" sz="1400" dirty="0"/>
          </a:p>
        </p:txBody>
      </p:sp>
      <p:sp>
        <p:nvSpPr>
          <p:cNvPr id="43" name="Text 41"/>
          <p:cNvSpPr txBox="1"/>
          <p:nvPr/>
        </p:nvSpPr>
        <p:spPr>
          <a:xfrm>
            <a:off x="8771839" y="2953512"/>
            <a:ext cx="2560320" cy="164592"/>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POST /v1/evaluate</a:t>
            </a:r>
            <a:endParaRPr lang="en-US" sz="1000" dirty="0"/>
          </a:p>
        </p:txBody>
      </p:sp>
      <p:sp>
        <p:nvSpPr>
          <p:cNvPr id="44" name="Shape 42"/>
          <p:cNvSpPr/>
          <p:nvPr/>
        </p:nvSpPr>
        <p:spPr>
          <a:xfrm>
            <a:off x="8625535" y="3209544"/>
            <a:ext cx="2834640" cy="457200"/>
          </a:xfrm>
          <a:prstGeom prst="roundRect">
            <a:avLst>
              <a:gd name="adj" fmla="val 16000"/>
            </a:avLst>
          </a:prstGeom>
          <a:solidFill>
            <a:srgbClr val="0F2A28"/>
          </a:solidFill>
          <a:ln w="9525">
            <a:solidFill>
              <a:srgbClr val="1C5F57"/>
            </a:solidFill>
            <a:prstDash val="solid"/>
          </a:ln>
        </p:spPr>
      </p:sp>
      <p:sp>
        <p:nvSpPr>
          <p:cNvPr id="45" name="Text 43"/>
          <p:cNvSpPr txBox="1"/>
          <p:nvPr/>
        </p:nvSpPr>
        <p:spPr>
          <a:xfrm>
            <a:off x="8771839" y="3264408"/>
            <a:ext cx="2560320" cy="201168"/>
          </a:xfrm>
          <a:prstGeom prst="rect">
            <a:avLst/>
          </a:prstGeom>
          <a:noFill/>
          <a:ln/>
        </p:spPr>
        <p:txBody>
          <a:bodyPr wrap="square" lIns="0" tIns="0" rIns="0" bIns="0" rtlCol="0" anchor="ctr"/>
          <a:lstStyle/>
          <a:p>
            <a:pPr algn="l" indent="0" marL="0">
              <a:lnSpc>
                <a:spcPct val="112000"/>
              </a:lnSpc>
              <a:buNone/>
            </a:pPr>
            <a:r>
              <a:rPr lang="en-US" sz="1400" dirty="0">
                <a:solidFill>
                  <a:srgbClr val="2DD4BF"/>
                </a:solidFill>
                <a:latin typeface="Inter SemiBold" pitchFamily="34" charset="0"/>
                <a:ea typeface="Inter SemiBold" pitchFamily="34" charset="-122"/>
                <a:cs typeface="Inter SemiBold" pitchFamily="34" charset="-120"/>
              </a:rPr>
              <a:t>Fallback B: TokenPool</a:t>
            </a:r>
            <a:endParaRPr lang="en-US" sz="1400" dirty="0"/>
          </a:p>
        </p:txBody>
      </p:sp>
      <p:sp>
        <p:nvSpPr>
          <p:cNvPr id="46" name="Text 44"/>
          <p:cNvSpPr txBox="1"/>
          <p:nvPr/>
        </p:nvSpPr>
        <p:spPr>
          <a:xfrm>
            <a:off x="8771839" y="3465576"/>
            <a:ext cx="2560320" cy="164592"/>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KirchhoffTokenPool, live</a:t>
            </a:r>
            <a:endParaRPr lang="en-US" sz="1000" dirty="0"/>
          </a:p>
        </p:txBody>
      </p:sp>
      <p:sp>
        <p:nvSpPr>
          <p:cNvPr id="47" name="Shape 45"/>
          <p:cNvSpPr/>
          <p:nvPr/>
        </p:nvSpPr>
        <p:spPr>
          <a:xfrm>
            <a:off x="8625535" y="3721608"/>
            <a:ext cx="2834640" cy="457200"/>
          </a:xfrm>
          <a:prstGeom prst="roundRect">
            <a:avLst>
              <a:gd name="adj" fmla="val 16000"/>
            </a:avLst>
          </a:prstGeom>
          <a:solidFill>
            <a:srgbClr val="181C22"/>
          </a:solidFill>
          <a:ln w="9525">
            <a:solidFill>
              <a:srgbClr val="2A313B"/>
            </a:solidFill>
            <a:prstDash val="solid"/>
          </a:ln>
        </p:spPr>
      </p:sp>
      <p:sp>
        <p:nvSpPr>
          <p:cNvPr id="48" name="Text 46"/>
          <p:cNvSpPr txBox="1"/>
          <p:nvPr/>
        </p:nvSpPr>
        <p:spPr>
          <a:xfrm>
            <a:off x="8771839" y="3776472"/>
            <a:ext cx="2560320" cy="201168"/>
          </a:xfrm>
          <a:prstGeom prst="rect">
            <a:avLst/>
          </a:prstGeom>
          <a:noFill/>
          <a:ln/>
        </p:spPr>
        <p:txBody>
          <a:bodyPr wrap="square" lIns="0" tIns="0" rIns="0" bIns="0" rtlCol="0" anchor="ctr"/>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Committee Verifier</a:t>
            </a:r>
            <a:endParaRPr lang="en-US" sz="1400" dirty="0"/>
          </a:p>
        </p:txBody>
      </p:sp>
      <p:sp>
        <p:nvSpPr>
          <p:cNvPr id="49" name="Text 47"/>
          <p:cNvSpPr txBox="1"/>
          <p:nvPr/>
        </p:nvSpPr>
        <p:spPr>
          <a:xfrm>
            <a:off x="8771839" y="3977640"/>
            <a:ext cx="2560320" cy="164592"/>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Chainlink, signs as well</a:t>
            </a:r>
            <a:endParaRPr lang="en-US" sz="1000" dirty="0"/>
          </a:p>
        </p:txBody>
      </p:sp>
      <p:sp>
        <p:nvSpPr>
          <p:cNvPr id="50" name="Text 48"/>
          <p:cNvSpPr txBox="1"/>
          <p:nvPr/>
        </p:nvSpPr>
        <p:spPr>
          <a:xfrm>
            <a:off x="8716975" y="4288536"/>
            <a:ext cx="2651760" cy="237744"/>
          </a:xfrm>
          <a:prstGeom prst="rect">
            <a:avLst/>
          </a:prstGeom>
          <a:noFill/>
          <a:ln/>
        </p:spPr>
        <p:txBody>
          <a:bodyPr wrap="square" lIns="0" tIns="0" rIns="0" bIns="0" rtlCol="0" anchor="t"/>
          <a:lstStyle/>
          <a:p>
            <a:pPr algn="l" indent="0" marL="0">
              <a:lnSpc>
                <a:spcPct val="112000"/>
              </a:lnSpc>
              <a:buNone/>
            </a:pPr>
            <a:r>
              <a:rPr lang="en-US" sz="1000" dirty="0">
                <a:solidFill>
                  <a:srgbClr val="9AA3AF"/>
                </a:solidFill>
                <a:latin typeface="JetBrains Mono" pitchFamily="34" charset="0"/>
                <a:ea typeface="JetBrains Mono" pitchFamily="34" charset="-122"/>
                <a:cs typeface="JetBrains Mono" pitchFamily="34" charset="-120"/>
              </a:rPr>
              <a:t>Both must sign to execute</a:t>
            </a:r>
            <a:endParaRPr lang="en-US" sz="1000" dirty="0"/>
          </a:p>
        </p:txBody>
      </p:sp>
      <p:sp>
        <p:nvSpPr>
          <p:cNvPr id="51" name="Shape 49"/>
          <p:cNvSpPr/>
          <p:nvPr/>
        </p:nvSpPr>
        <p:spPr>
          <a:xfrm flipH="1">
            <a:off x="3803904" y="3108960"/>
            <a:ext cx="636880" cy="91"/>
          </a:xfrm>
          <a:prstGeom prst="line">
            <a:avLst/>
          </a:prstGeom>
          <a:noFill/>
          <a:ln w="19050">
            <a:solidFill>
              <a:srgbClr val="2DD4BF"/>
            </a:solidFill>
            <a:prstDash val="solid"/>
            <a:tailEnd type="triangle"/>
          </a:ln>
        </p:spPr>
      </p:sp>
      <p:sp>
        <p:nvSpPr>
          <p:cNvPr id="52" name="Text 50"/>
          <p:cNvSpPr txBox="1"/>
          <p:nvPr/>
        </p:nvSpPr>
        <p:spPr>
          <a:xfrm>
            <a:off x="3749040" y="2825496"/>
            <a:ext cx="746608" cy="219456"/>
          </a:xfrm>
          <a:prstGeom prst="rect">
            <a:avLst/>
          </a:prstGeom>
          <a:noFill/>
          <a:ln/>
        </p:spPr>
        <p:txBody>
          <a:bodyPr wrap="square" lIns="0" tIns="0" rIns="0" bIns="0" rtlCol="0" anchor="t"/>
          <a:lstStyle/>
          <a:p>
            <a:pPr algn="ctr" indent="0" marL="0">
              <a:lnSpc>
                <a:spcPct val="112000"/>
              </a:lnSpc>
              <a:buNone/>
            </a:pPr>
            <a:r>
              <a:rPr lang="en-US" sz="1000" dirty="0">
                <a:solidFill>
                  <a:srgbClr val="2DD4BF"/>
                </a:solidFill>
                <a:latin typeface="JetBrains Mono" pitchFamily="34" charset="0"/>
                <a:ea typeface="JetBrains Mono" pitchFamily="34" charset="-122"/>
                <a:cs typeface="JetBrains Mono" pitchFamily="34" charset="-120"/>
              </a:rPr>
              <a:t>reads</a:t>
            </a:r>
            <a:endParaRPr lang="en-US" sz="1000" dirty="0"/>
          </a:p>
        </p:txBody>
      </p:sp>
      <p:sp>
        <p:nvSpPr>
          <p:cNvPr id="53" name="Shape 51"/>
          <p:cNvSpPr/>
          <p:nvPr/>
        </p:nvSpPr>
        <p:spPr>
          <a:xfrm>
            <a:off x="3803904" y="3931920"/>
            <a:ext cx="636880" cy="91"/>
          </a:xfrm>
          <a:prstGeom prst="line">
            <a:avLst/>
          </a:prstGeom>
          <a:noFill/>
          <a:ln w="19050">
            <a:solidFill>
              <a:srgbClr val="2DD4BF"/>
            </a:solidFill>
            <a:prstDash val="solid"/>
            <a:tailEnd type="triangle"/>
          </a:ln>
        </p:spPr>
      </p:sp>
      <p:sp>
        <p:nvSpPr>
          <p:cNvPr id="54" name="Text 52"/>
          <p:cNvSpPr txBox="1"/>
          <p:nvPr/>
        </p:nvSpPr>
        <p:spPr>
          <a:xfrm>
            <a:off x="3657600" y="3648456"/>
            <a:ext cx="929488" cy="219456"/>
          </a:xfrm>
          <a:prstGeom prst="rect">
            <a:avLst/>
          </a:prstGeom>
          <a:noFill/>
          <a:ln/>
        </p:spPr>
        <p:txBody>
          <a:bodyPr wrap="square" lIns="0" tIns="0" rIns="0" bIns="0" rtlCol="0" anchor="t"/>
          <a:lstStyle/>
          <a:p>
            <a:pPr algn="ctr" indent="0" marL="0">
              <a:lnSpc>
                <a:spcPct val="112000"/>
              </a:lnSpc>
              <a:buNone/>
            </a:pPr>
            <a:r>
              <a:rPr lang="en-US" sz="1000" dirty="0">
                <a:solidFill>
                  <a:srgbClr val="2DD4BF"/>
                </a:solidFill>
                <a:latin typeface="JetBrains Mono" pitchFamily="34" charset="0"/>
                <a:ea typeface="JetBrains Mono" pitchFamily="34" charset="-122"/>
                <a:cs typeface="JetBrains Mono" pitchFamily="34" charset="-120"/>
              </a:rPr>
              <a:t>reports</a:t>
            </a:r>
            <a:endParaRPr lang="en-US" sz="1000" dirty="0"/>
          </a:p>
        </p:txBody>
      </p:sp>
      <p:sp>
        <p:nvSpPr>
          <p:cNvPr id="55" name="Shape 53"/>
          <p:cNvSpPr/>
          <p:nvPr/>
        </p:nvSpPr>
        <p:spPr>
          <a:xfrm flipH="1">
            <a:off x="7750912" y="3520440"/>
            <a:ext cx="636880" cy="91"/>
          </a:xfrm>
          <a:prstGeom prst="line">
            <a:avLst/>
          </a:prstGeom>
          <a:noFill/>
          <a:ln w="19050">
            <a:solidFill>
              <a:srgbClr val="2DD4BF"/>
            </a:solidFill>
            <a:prstDash val="solid"/>
            <a:tailEnd type="triangle"/>
          </a:ln>
        </p:spPr>
      </p:sp>
      <p:sp>
        <p:nvSpPr>
          <p:cNvPr id="56" name="Text 54"/>
          <p:cNvSpPr txBox="1"/>
          <p:nvPr/>
        </p:nvSpPr>
        <p:spPr>
          <a:xfrm>
            <a:off x="7696048" y="3236976"/>
            <a:ext cx="746608" cy="219456"/>
          </a:xfrm>
          <a:prstGeom prst="rect">
            <a:avLst/>
          </a:prstGeom>
          <a:noFill/>
          <a:ln/>
        </p:spPr>
        <p:txBody>
          <a:bodyPr wrap="square" lIns="0" tIns="0" rIns="0" bIns="0" rtlCol="0" anchor="t"/>
          <a:lstStyle/>
          <a:p>
            <a:pPr algn="ctr" indent="0" marL="0">
              <a:lnSpc>
                <a:spcPct val="112000"/>
              </a:lnSpc>
              <a:buNone/>
            </a:pPr>
            <a:r>
              <a:rPr lang="en-US" sz="1000" dirty="0">
                <a:solidFill>
                  <a:srgbClr val="2DD4BF"/>
                </a:solidFill>
                <a:latin typeface="JetBrains Mono" pitchFamily="34" charset="0"/>
                <a:ea typeface="JetBrains Mono" pitchFamily="34" charset="-122"/>
                <a:cs typeface="JetBrains Mono" pitchFamily="34" charset="-120"/>
              </a:rPr>
              <a:t>status</a:t>
            </a:r>
            <a:endParaRPr lang="en-US" sz="1000" dirty="0"/>
          </a:p>
        </p:txBody>
      </p:sp>
      <p:sp>
        <p:nvSpPr>
          <p:cNvPr id="57" name="Shape 55"/>
          <p:cNvSpPr/>
          <p:nvPr/>
        </p:nvSpPr>
        <p:spPr>
          <a:xfrm>
            <a:off x="6095848" y="4791456"/>
            <a:ext cx="91" cy="310896"/>
          </a:xfrm>
          <a:prstGeom prst="line">
            <a:avLst/>
          </a:prstGeom>
          <a:noFill/>
          <a:ln w="15875">
            <a:solidFill>
              <a:srgbClr val="3A4350"/>
            </a:solidFill>
            <a:prstDash val="dash"/>
            <a:tailEnd type="triangle"/>
          </a:ln>
        </p:spPr>
      </p:sp>
      <p:sp>
        <p:nvSpPr>
          <p:cNvPr id="58" name="Text 56"/>
          <p:cNvSpPr txBox="1"/>
          <p:nvPr/>
        </p:nvSpPr>
        <p:spPr>
          <a:xfrm>
            <a:off x="6187288" y="4791456"/>
            <a:ext cx="731520" cy="274320"/>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events</a:t>
            </a:r>
            <a:endParaRPr lang="en-US" sz="1000" dirty="0"/>
          </a:p>
        </p:txBody>
      </p:sp>
      <p:sp>
        <p:nvSpPr>
          <p:cNvPr id="59" name="Control plane"/>
          <p:cNvSpPr/>
          <p:nvPr/>
        </p:nvSpPr>
        <p:spPr>
          <a:xfrm>
            <a:off x="548640" y="5138928"/>
            <a:ext cx="11094415" cy="987552"/>
          </a:xfrm>
          <a:prstGeom prst="roundRect">
            <a:avLst>
              <a:gd name="adj" fmla="val 12963"/>
            </a:avLst>
          </a:prstGeom>
          <a:solidFill>
            <a:srgbClr val="0B0D10">
              <a:alpha val="70000"/>
            </a:srgbClr>
          </a:solidFill>
          <a:ln w="9525">
            <a:solidFill>
              <a:srgbClr val="3A4350"/>
            </a:solidFill>
            <a:prstDash val="dash"/>
          </a:ln>
        </p:spPr>
      </p:sp>
      <p:sp>
        <p:nvSpPr>
          <p:cNvPr id="60" name="Text 58"/>
          <p:cNvSpPr txBox="1"/>
          <p:nvPr/>
        </p:nvSpPr>
        <p:spPr>
          <a:xfrm>
            <a:off x="822960" y="5321808"/>
            <a:ext cx="5486400" cy="219456"/>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7D8693"/>
                </a:solidFill>
                <a:latin typeface="JetBrains Mono" pitchFamily="34" charset="0"/>
                <a:ea typeface="JetBrains Mono" pitchFamily="34" charset="-122"/>
                <a:cs typeface="JetBrains Mono" pitchFamily="34" charset="-120"/>
              </a:rPr>
              <a:t>CONTROL PLANE  ·  OUTSIDE THE VETO PATH</a:t>
            </a:r>
            <a:endParaRPr lang="en-US" sz="1000" dirty="0"/>
          </a:p>
        </p:txBody>
      </p:sp>
      <p:sp>
        <p:nvSpPr>
          <p:cNvPr id="61" name="Shape 59"/>
          <p:cNvSpPr/>
          <p:nvPr/>
        </p:nvSpPr>
        <p:spPr>
          <a:xfrm>
            <a:off x="822960" y="5641848"/>
            <a:ext cx="892454" cy="310896"/>
          </a:xfrm>
          <a:prstGeom prst="roundRect">
            <a:avLst>
              <a:gd name="adj" fmla="val 50000"/>
            </a:avLst>
          </a:prstGeom>
          <a:solidFill>
            <a:srgbClr val="12151A"/>
          </a:solidFill>
          <a:ln w="9525">
            <a:solidFill>
              <a:srgbClr val="2A313B"/>
            </a:solidFill>
            <a:prstDash val="solid"/>
          </a:ln>
        </p:spPr>
      </p:sp>
      <p:sp>
        <p:nvSpPr>
          <p:cNvPr id="62" name="Text 60"/>
          <p:cNvSpPr txBox="1"/>
          <p:nvPr/>
        </p:nvSpPr>
        <p:spPr>
          <a:xfrm>
            <a:off x="822960" y="5641848"/>
            <a:ext cx="892454" cy="310896"/>
          </a:xfrm>
          <a:prstGeom prst="rect">
            <a:avLst/>
          </a:prstGeom>
          <a:noFill/>
          <a:ln/>
        </p:spPr>
        <p:txBody>
          <a:bodyPr wrap="square" lIns="0" tIns="0" rIns="0" bIns="0" rtlCol="0" anchor="ctr"/>
          <a:lstStyle/>
          <a:p>
            <a:pPr algn="ctr" indent="0" marL="0">
              <a:lnSpc>
                <a:spcPct val="112000"/>
              </a:lnSpc>
              <a:buNone/>
            </a:pPr>
            <a:r>
              <a:rPr lang="en-US" sz="1200" dirty="0">
                <a:solidFill>
                  <a:srgbClr val="9AA3AF"/>
                </a:solidFill>
                <a:latin typeface="Inter" pitchFamily="34" charset="0"/>
                <a:ea typeface="Inter" pitchFamily="34" charset="-122"/>
                <a:cs typeface="Inter" pitchFamily="34" charset="-120"/>
              </a:rPr>
              <a:t>Indexer</a:t>
            </a:r>
            <a:endParaRPr lang="en-US" sz="1200" dirty="0"/>
          </a:p>
        </p:txBody>
      </p:sp>
      <p:sp>
        <p:nvSpPr>
          <p:cNvPr id="63" name="Shape 61"/>
          <p:cNvSpPr/>
          <p:nvPr/>
        </p:nvSpPr>
        <p:spPr>
          <a:xfrm>
            <a:off x="1843430" y="5641848"/>
            <a:ext cx="570586" cy="310896"/>
          </a:xfrm>
          <a:prstGeom prst="roundRect">
            <a:avLst>
              <a:gd name="adj" fmla="val 50000"/>
            </a:avLst>
          </a:prstGeom>
          <a:solidFill>
            <a:srgbClr val="12151A"/>
          </a:solidFill>
          <a:ln w="9525">
            <a:solidFill>
              <a:srgbClr val="2A313B"/>
            </a:solidFill>
            <a:prstDash val="solid"/>
          </a:ln>
        </p:spPr>
      </p:sp>
      <p:sp>
        <p:nvSpPr>
          <p:cNvPr id="64" name="Text 62"/>
          <p:cNvSpPr txBox="1"/>
          <p:nvPr/>
        </p:nvSpPr>
        <p:spPr>
          <a:xfrm>
            <a:off x="1843430" y="5641848"/>
            <a:ext cx="570586" cy="310896"/>
          </a:xfrm>
          <a:prstGeom prst="rect">
            <a:avLst/>
          </a:prstGeom>
          <a:noFill/>
          <a:ln/>
        </p:spPr>
        <p:txBody>
          <a:bodyPr wrap="square" lIns="0" tIns="0" rIns="0" bIns="0" rtlCol="0" anchor="ctr"/>
          <a:lstStyle/>
          <a:p>
            <a:pPr algn="ctr" indent="0" marL="0">
              <a:lnSpc>
                <a:spcPct val="112000"/>
              </a:lnSpc>
              <a:buNone/>
            </a:pPr>
            <a:r>
              <a:rPr lang="en-US" sz="1200" dirty="0">
                <a:solidFill>
                  <a:srgbClr val="9AA3AF"/>
                </a:solidFill>
                <a:latin typeface="Inter" pitchFamily="34" charset="0"/>
                <a:ea typeface="Inter" pitchFamily="34" charset="-122"/>
                <a:cs typeface="Inter" pitchFamily="34" charset="-120"/>
              </a:rPr>
              <a:t>API</a:t>
            </a:r>
            <a:endParaRPr lang="en-US" sz="1200" dirty="0"/>
          </a:p>
        </p:txBody>
      </p:sp>
      <p:sp>
        <p:nvSpPr>
          <p:cNvPr id="65" name="Shape 63"/>
          <p:cNvSpPr/>
          <p:nvPr/>
        </p:nvSpPr>
        <p:spPr>
          <a:xfrm>
            <a:off x="2542032" y="5641848"/>
            <a:ext cx="1536192" cy="310896"/>
          </a:xfrm>
          <a:prstGeom prst="roundRect">
            <a:avLst>
              <a:gd name="adj" fmla="val 50000"/>
            </a:avLst>
          </a:prstGeom>
          <a:solidFill>
            <a:srgbClr val="12151A"/>
          </a:solidFill>
          <a:ln w="9525">
            <a:solidFill>
              <a:srgbClr val="2A313B"/>
            </a:solidFill>
            <a:prstDash val="solid"/>
          </a:ln>
        </p:spPr>
      </p:sp>
      <p:sp>
        <p:nvSpPr>
          <p:cNvPr id="66" name="Text 64"/>
          <p:cNvSpPr txBox="1"/>
          <p:nvPr/>
        </p:nvSpPr>
        <p:spPr>
          <a:xfrm>
            <a:off x="2542032" y="5641848"/>
            <a:ext cx="1536192" cy="310896"/>
          </a:xfrm>
          <a:prstGeom prst="rect">
            <a:avLst/>
          </a:prstGeom>
          <a:noFill/>
          <a:ln/>
        </p:spPr>
        <p:txBody>
          <a:bodyPr wrap="square" lIns="0" tIns="0" rIns="0" bIns="0" rtlCol="0" anchor="ctr"/>
          <a:lstStyle/>
          <a:p>
            <a:pPr algn="ctr" indent="0" marL="0">
              <a:lnSpc>
                <a:spcPct val="112000"/>
              </a:lnSpc>
              <a:buNone/>
            </a:pPr>
            <a:r>
              <a:rPr lang="en-US" sz="1200" dirty="0">
                <a:solidFill>
                  <a:srgbClr val="9AA3AF"/>
                </a:solidFill>
                <a:latin typeface="Inter" pitchFamily="34" charset="0"/>
                <a:ea typeface="Inter" pitchFamily="34" charset="-122"/>
                <a:cs typeface="Inter" pitchFamily="34" charset="-120"/>
              </a:rPr>
              <a:t>Mission Control</a:t>
            </a:r>
            <a:endParaRPr lang="en-US" sz="1200" dirty="0"/>
          </a:p>
        </p:txBody>
      </p:sp>
      <p:sp>
        <p:nvSpPr>
          <p:cNvPr id="67" name="Shape 65"/>
          <p:cNvSpPr/>
          <p:nvPr/>
        </p:nvSpPr>
        <p:spPr>
          <a:xfrm>
            <a:off x="4206240" y="5641848"/>
            <a:ext cx="570586" cy="310896"/>
          </a:xfrm>
          <a:prstGeom prst="roundRect">
            <a:avLst>
              <a:gd name="adj" fmla="val 50000"/>
            </a:avLst>
          </a:prstGeom>
          <a:solidFill>
            <a:srgbClr val="12151A"/>
          </a:solidFill>
          <a:ln w="9525">
            <a:solidFill>
              <a:srgbClr val="2A313B"/>
            </a:solidFill>
            <a:prstDash val="solid"/>
          </a:ln>
        </p:spPr>
      </p:sp>
      <p:sp>
        <p:nvSpPr>
          <p:cNvPr id="68" name="Text 66"/>
          <p:cNvSpPr txBox="1"/>
          <p:nvPr/>
        </p:nvSpPr>
        <p:spPr>
          <a:xfrm>
            <a:off x="4206240" y="5641848"/>
            <a:ext cx="570586" cy="310896"/>
          </a:xfrm>
          <a:prstGeom prst="rect">
            <a:avLst/>
          </a:prstGeom>
          <a:noFill/>
          <a:ln/>
        </p:spPr>
        <p:txBody>
          <a:bodyPr wrap="square" lIns="0" tIns="0" rIns="0" bIns="0" rtlCol="0" anchor="ctr"/>
          <a:lstStyle/>
          <a:p>
            <a:pPr algn="ctr" indent="0" marL="0">
              <a:lnSpc>
                <a:spcPct val="112000"/>
              </a:lnSpc>
              <a:buNone/>
            </a:pPr>
            <a:r>
              <a:rPr lang="en-US" sz="1200" dirty="0">
                <a:solidFill>
                  <a:srgbClr val="9AA3AF"/>
                </a:solidFill>
                <a:latin typeface="Inter" pitchFamily="34" charset="0"/>
                <a:ea typeface="Inter" pitchFamily="34" charset="-122"/>
                <a:cs typeface="Inter" pitchFamily="34" charset="-120"/>
              </a:rPr>
              <a:t>MCP</a:t>
            </a:r>
            <a:endParaRPr lang="en-US" sz="1200" dirty="0"/>
          </a:p>
        </p:txBody>
      </p:sp>
      <p:sp>
        <p:nvSpPr>
          <p:cNvPr id="69" name="Shape 67"/>
          <p:cNvSpPr/>
          <p:nvPr/>
        </p:nvSpPr>
        <p:spPr>
          <a:xfrm>
            <a:off x="4904842" y="5641848"/>
            <a:ext cx="2018995" cy="310896"/>
          </a:xfrm>
          <a:prstGeom prst="roundRect">
            <a:avLst>
              <a:gd name="adj" fmla="val 50000"/>
            </a:avLst>
          </a:prstGeom>
          <a:solidFill>
            <a:srgbClr val="12151A"/>
          </a:solidFill>
          <a:ln w="9525">
            <a:solidFill>
              <a:srgbClr val="2A313B"/>
            </a:solidFill>
            <a:prstDash val="solid"/>
          </a:ln>
        </p:spPr>
      </p:sp>
      <p:sp>
        <p:nvSpPr>
          <p:cNvPr id="70" name="Text 68"/>
          <p:cNvSpPr txBox="1"/>
          <p:nvPr/>
        </p:nvSpPr>
        <p:spPr>
          <a:xfrm>
            <a:off x="4904842" y="5641848"/>
            <a:ext cx="2018995" cy="310896"/>
          </a:xfrm>
          <a:prstGeom prst="rect">
            <a:avLst/>
          </a:prstGeom>
          <a:noFill/>
          <a:ln/>
        </p:spPr>
        <p:txBody>
          <a:bodyPr wrap="square" lIns="0" tIns="0" rIns="0" bIns="0" rtlCol="0" anchor="ctr"/>
          <a:lstStyle/>
          <a:p>
            <a:pPr algn="ctr" indent="0" marL="0">
              <a:lnSpc>
                <a:spcPct val="112000"/>
              </a:lnSpc>
              <a:buNone/>
            </a:pPr>
            <a:r>
              <a:rPr lang="en-US" sz="1200" dirty="0">
                <a:solidFill>
                  <a:srgbClr val="9AA3AF"/>
                </a:solidFill>
                <a:latin typeface="Inter" pitchFamily="34" charset="0"/>
                <a:ea typeface="Inter" pitchFamily="34" charset="-122"/>
                <a:cs typeface="Inter" pitchFamily="34" charset="-120"/>
              </a:rPr>
              <a:t>AI: Copilot, Narrator</a:t>
            </a:r>
            <a:endParaRPr lang="en-US" sz="1200" dirty="0"/>
          </a:p>
        </p:txBody>
      </p:sp>
      <p:sp>
        <p:nvSpPr>
          <p:cNvPr id="71" name="Text 69"/>
          <p:cNvSpPr txBox="1"/>
          <p:nvPr/>
        </p:nvSpPr>
        <p:spPr>
          <a:xfrm>
            <a:off x="7436815" y="5614416"/>
            <a:ext cx="3931920" cy="365760"/>
          </a:xfrm>
          <a:prstGeom prst="rect">
            <a:avLst/>
          </a:prstGeom>
          <a:noFill/>
          <a:ln/>
        </p:spPr>
        <p:txBody>
          <a:bodyPr wrap="square" lIns="0" tIns="0" rIns="0" bIns="0" rtlCol="0" anchor="ctr"/>
          <a:lstStyle/>
          <a:p>
            <a:pPr algn="r" indent="0" marL="0">
              <a:lnSpc>
                <a:spcPct val="112000"/>
              </a:lnSpc>
              <a:buNone/>
            </a:pPr>
            <a:r>
              <a:rPr lang="en-US" sz="1600" dirty="0">
                <a:solidFill>
                  <a:srgbClr val="E7EAEE"/>
                </a:solidFill>
                <a:latin typeface="Inter SemiBold" pitchFamily="34" charset="0"/>
                <a:ea typeface="Inter SemiBold" pitchFamily="34" charset="-122"/>
                <a:cs typeface="Inter SemiBold" pitchFamily="34" charset="-120"/>
              </a:rPr>
              <a:t>It can go dark. Every verdict still works.</a:t>
            </a:r>
            <a:endParaRPr lang="en-US" sz="1600" dirty="0"/>
          </a:p>
        </p:txBody>
      </p:sp>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475488"/>
            <a:ext cx="8229600" cy="237744"/>
          </a:xfrm>
          <a:prstGeom prst="rect">
            <a:avLst/>
          </a:prstGeom>
          <a:noFill/>
          <a:ln/>
        </p:spPr>
        <p:txBody>
          <a:bodyPr wrap="square" lIns="0" tIns="0" rIns="0" bIns="0" rtlCol="0" anchor="ctr"/>
          <a:lstStyle/>
          <a:p>
            <a:pPr algn="l" indent="0" marL="0">
              <a:lnSpc>
                <a:spcPct val="112000"/>
              </a:lnSpc>
              <a:buNone/>
            </a:pPr>
            <a:r>
              <a:rPr lang="en-US" sz="1100" b="1" spc="300" kern="0" dirty="0">
                <a:solidFill>
                  <a:srgbClr val="2DD4BF"/>
                </a:solidFill>
                <a:latin typeface="JetBrains Mono" pitchFamily="34" charset="0"/>
                <a:ea typeface="JetBrains Mono" pitchFamily="34" charset="-122"/>
                <a:cs typeface="JetBrains Mono" pitchFamily="34" charset="-120"/>
              </a:rPr>
              <a:t>WHY CHAINLINK</a:t>
            </a:r>
            <a:endParaRPr lang="en-US" sz="1100" dirty="0"/>
          </a:p>
        </p:txBody>
      </p:sp>
      <p:sp>
        <p:nvSpPr>
          <p:cNvPr id="3" name="Text 0"/>
          <p:cNvSpPr/>
          <p:nvPr>
            <p:ph idx="100" type="title" hasCustomPrompt="1"/>
          </p:nvPr>
        </p:nvSpPr>
        <p:spPr>
          <a:xfrm>
            <a:off x="548640" y="768096"/>
            <a:ext cx="11094415" cy="713232"/>
          </a:xfrm>
          <a:prstGeom prst="rect">
            <a:avLst/>
          </a:prstGeom>
          <a:noFill/>
          <a:ln/>
        </p:spPr>
        <p:txBody>
          <a:bodyPr wrap="square" lIns="0" tIns="0" rIns="0" bIns="0" rtlCol="0" anchor="t"/>
          <a:lstStyle/>
          <a:p>
            <a:pPr algn="l" indent="0" marL="0">
              <a:buNone/>
            </a:pPr>
            <a:r>
              <a:rPr lang="en-US" sz="3600" spc="-50" kern="0" dirty="0">
                <a:solidFill>
                  <a:srgbClr val="E7EAEE"/>
                </a:solidFill>
                <a:latin typeface="Inter SemiBold" pitchFamily="34" charset="0"/>
                <a:ea typeface="Inter SemiBold" pitchFamily="34" charset="-122"/>
                <a:cs typeface="Inter SemiBold" pitchFamily="34" charset="-120"/>
              </a:rPr>
              <a:t>CCIP 2.0 opened the slot. CRE makes it trustless</a:t>
            </a:r>
            <a:endParaRPr lang="en-US" sz="3600" dirty="0"/>
          </a:p>
        </p:txBody>
      </p:sp>
      <p:sp>
        <p:nvSpPr>
          <p:cNvPr id="4" name="Shape 2"/>
          <p:cNvSpPr/>
          <p:nvPr/>
        </p:nvSpPr>
        <p:spPr>
          <a:xfrm>
            <a:off x="548640" y="2633472"/>
            <a:ext cx="1417320" cy="786384"/>
          </a:xfrm>
          <a:prstGeom prst="roundRect">
            <a:avLst>
              <a:gd name="adj" fmla="val 13953"/>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5" name="Text 3"/>
          <p:cNvSpPr txBox="1"/>
          <p:nvPr/>
        </p:nvSpPr>
        <p:spPr>
          <a:xfrm>
            <a:off x="749808" y="2761488"/>
            <a:ext cx="1014984" cy="201168"/>
          </a:xfrm>
          <a:prstGeom prst="rect">
            <a:avLst/>
          </a:prstGeom>
          <a:noFill/>
          <a:ln/>
        </p:spPr>
        <p:txBody>
          <a:bodyPr wrap="square" lIns="0" tIns="0" rIns="0" bIns="0" rtlCol="0" anchor="t"/>
          <a:lstStyle/>
          <a:p>
            <a:pPr algn="l" indent="0" marL="0">
              <a:lnSpc>
                <a:spcPct val="112000"/>
              </a:lnSpc>
              <a:buNone/>
            </a:pPr>
            <a:r>
              <a:rPr lang="en-US" sz="1000" b="1" spc="100" kern="0" dirty="0">
                <a:solidFill>
                  <a:srgbClr val="9AA3AF"/>
                </a:solidFill>
                <a:latin typeface="JetBrains Mono" pitchFamily="34" charset="0"/>
                <a:ea typeface="JetBrains Mono" pitchFamily="34" charset="-122"/>
                <a:cs typeface="JetBrains Mono" pitchFamily="34" charset="-120"/>
              </a:rPr>
              <a:t>CCIP</a:t>
            </a:r>
            <a:endParaRPr lang="en-US" sz="1000" dirty="0"/>
          </a:p>
        </p:txBody>
      </p:sp>
      <p:sp>
        <p:nvSpPr>
          <p:cNvPr id="6" name="Text 4"/>
          <p:cNvSpPr txBox="1"/>
          <p:nvPr/>
        </p:nvSpPr>
        <p:spPr>
          <a:xfrm>
            <a:off x="749808" y="2999232"/>
            <a:ext cx="1014984" cy="274320"/>
          </a:xfrm>
          <a:prstGeom prst="rect">
            <a:avLst/>
          </a:prstGeom>
          <a:noFill/>
          <a:ln/>
        </p:spPr>
        <p:txBody>
          <a:bodyPr wrap="square" lIns="0" tIns="0" rIns="0" bIns="0" rtlCol="0" anchor="t"/>
          <a:lstStyle/>
          <a:p>
            <a:pPr algn="l" indent="0" marL="0">
              <a:lnSpc>
                <a:spcPct val="112000"/>
              </a:lnSpc>
              <a:buNone/>
            </a:pPr>
            <a:r>
              <a:rPr lang="en-US" sz="1500" dirty="0">
                <a:solidFill>
                  <a:srgbClr val="E7EAEE"/>
                </a:solidFill>
                <a:latin typeface="Inter SemiBold" pitchFamily="34" charset="0"/>
                <a:ea typeface="Inter SemiBold" pitchFamily="34" charset="-122"/>
                <a:cs typeface="Inter SemiBold" pitchFamily="34" charset="-120"/>
              </a:rPr>
              <a:t>Message</a:t>
            </a:r>
            <a:endParaRPr lang="en-US" sz="1500" dirty="0"/>
          </a:p>
        </p:txBody>
      </p:sp>
      <p:sp>
        <p:nvSpPr>
          <p:cNvPr id="7" name="Shape 5"/>
          <p:cNvSpPr/>
          <p:nvPr/>
        </p:nvSpPr>
        <p:spPr>
          <a:xfrm>
            <a:off x="2468880" y="1810512"/>
            <a:ext cx="2331720" cy="786384"/>
          </a:xfrm>
          <a:prstGeom prst="roundRect">
            <a:avLst>
              <a:gd name="adj" fmla="val 13953"/>
            </a:avLst>
          </a:prstGeom>
          <a:solidFill>
            <a:srgbClr val="12151A"/>
          </a:solidFill>
          <a:ln w="9525">
            <a:solidFill>
              <a:srgbClr val="264A73"/>
            </a:solidFill>
            <a:prstDash val="solid"/>
          </a:ln>
          <a:effectLst>
            <a:outerShdw sx="100000" sy="100000" kx="0" ky="0" algn="bl" rotWithShape="0" blurRad="177800" dist="50800" dir="5400000">
              <a:srgbClr val="000000">
                <a:alpha val="45000"/>
              </a:srgbClr>
            </a:outerShdw>
          </a:effectLst>
        </p:spPr>
      </p:sp>
      <p:sp>
        <p:nvSpPr>
          <p:cNvPr id="8" name="Text 6"/>
          <p:cNvSpPr txBox="1"/>
          <p:nvPr/>
        </p:nvSpPr>
        <p:spPr>
          <a:xfrm>
            <a:off x="2670048" y="1938528"/>
            <a:ext cx="1929384" cy="201168"/>
          </a:xfrm>
          <a:prstGeom prst="rect">
            <a:avLst/>
          </a:prstGeom>
          <a:noFill/>
          <a:ln/>
        </p:spPr>
        <p:txBody>
          <a:bodyPr wrap="square" lIns="0" tIns="0" rIns="0" bIns="0" rtlCol="0" anchor="t"/>
          <a:lstStyle/>
          <a:p>
            <a:pPr algn="l" indent="0" marL="0">
              <a:lnSpc>
                <a:spcPct val="112000"/>
              </a:lnSpc>
              <a:buNone/>
            </a:pPr>
            <a:r>
              <a:rPr lang="en-US" sz="1000" b="1" spc="100" kern="0" dirty="0">
                <a:solidFill>
                  <a:srgbClr val="60A5FA"/>
                </a:solidFill>
                <a:latin typeface="JetBrains Mono" pitchFamily="34" charset="0"/>
                <a:ea typeface="JetBrains Mono" pitchFamily="34" charset="-122"/>
                <a:cs typeface="JetBrains Mono" pitchFamily="34" charset="-120"/>
              </a:rPr>
              <a:t>COMMITTEE VERIFIER</a:t>
            </a:r>
            <a:endParaRPr lang="en-US" sz="1000" dirty="0"/>
          </a:p>
        </p:txBody>
      </p:sp>
      <p:sp>
        <p:nvSpPr>
          <p:cNvPr id="9" name="Text 7"/>
          <p:cNvSpPr txBox="1"/>
          <p:nvPr/>
        </p:nvSpPr>
        <p:spPr>
          <a:xfrm>
            <a:off x="2670048" y="2176272"/>
            <a:ext cx="1929384" cy="274320"/>
          </a:xfrm>
          <a:prstGeom prst="rect">
            <a:avLst/>
          </a:prstGeom>
          <a:noFill/>
          <a:ln/>
        </p:spPr>
        <p:txBody>
          <a:bodyPr wrap="square" lIns="0" tIns="0" rIns="0" bIns="0" rtlCol="0" anchor="t"/>
          <a:lstStyle/>
          <a:p>
            <a:pPr algn="l" indent="0" marL="0">
              <a:lnSpc>
                <a:spcPct val="112000"/>
              </a:lnSpc>
              <a:buNone/>
            </a:pPr>
            <a:r>
              <a:rPr lang="en-US" sz="1500" dirty="0">
                <a:solidFill>
                  <a:srgbClr val="E7EAEE"/>
                </a:solidFill>
                <a:latin typeface="Inter SemiBold" pitchFamily="34" charset="0"/>
                <a:ea typeface="Inter SemiBold" pitchFamily="34" charset="-122"/>
                <a:cs typeface="Inter SemiBold" pitchFamily="34" charset="-120"/>
              </a:rPr>
              <a:t>Who signed?</a:t>
            </a:r>
            <a:endParaRPr lang="en-US" sz="1500" dirty="0"/>
          </a:p>
        </p:txBody>
      </p:sp>
      <p:sp>
        <p:nvSpPr>
          <p:cNvPr id="10" name="Shape 8"/>
          <p:cNvSpPr/>
          <p:nvPr/>
        </p:nvSpPr>
        <p:spPr>
          <a:xfrm>
            <a:off x="2468880" y="3456432"/>
            <a:ext cx="2331720" cy="786384"/>
          </a:xfrm>
          <a:prstGeom prst="roundRect">
            <a:avLst>
              <a:gd name="adj" fmla="val 13953"/>
            </a:avLst>
          </a:prstGeom>
          <a:solidFill>
            <a:srgbClr val="0F2A28"/>
          </a:solidFill>
          <a:ln w="9525">
            <a:solidFill>
              <a:srgbClr val="1C5F57"/>
            </a:solidFill>
            <a:prstDash val="solid"/>
          </a:ln>
          <a:effectLst>
            <a:outerShdw sx="100000" sy="100000" kx="0" ky="0" algn="bl" rotWithShape="0" blurRad="177800" dist="50800" dir="5400000">
              <a:srgbClr val="000000">
                <a:alpha val="45000"/>
              </a:srgbClr>
            </a:outerShdw>
          </a:effectLst>
        </p:spPr>
      </p:sp>
      <p:sp>
        <p:nvSpPr>
          <p:cNvPr id="11" name="Text 9"/>
          <p:cNvSpPr txBox="1"/>
          <p:nvPr/>
        </p:nvSpPr>
        <p:spPr>
          <a:xfrm>
            <a:off x="2670048" y="3584448"/>
            <a:ext cx="1929384" cy="201168"/>
          </a:xfrm>
          <a:prstGeom prst="rect">
            <a:avLst/>
          </a:prstGeom>
          <a:noFill/>
          <a:ln/>
        </p:spPr>
        <p:txBody>
          <a:bodyPr wrap="square" lIns="0" tIns="0" rIns="0" bIns="0" rtlCol="0" anchor="t"/>
          <a:lstStyle/>
          <a:p>
            <a:pPr algn="l" indent="0" marL="0">
              <a:lnSpc>
                <a:spcPct val="112000"/>
              </a:lnSpc>
              <a:buNone/>
            </a:pPr>
            <a:r>
              <a:rPr lang="en-US" sz="1000" b="1" spc="100" kern="0" dirty="0">
                <a:solidFill>
                  <a:srgbClr val="2DD4BF"/>
                </a:solidFill>
                <a:latin typeface="JetBrains Mono" pitchFamily="34" charset="0"/>
                <a:ea typeface="JetBrains Mono" pitchFamily="34" charset="-122"/>
                <a:cs typeface="JetBrains Mono" pitchFamily="34" charset="-120"/>
              </a:rPr>
              <a:t>KIRCHHOFF CCV</a:t>
            </a:r>
            <a:endParaRPr lang="en-US" sz="1000" dirty="0"/>
          </a:p>
        </p:txBody>
      </p:sp>
      <p:sp>
        <p:nvSpPr>
          <p:cNvPr id="12" name="Text 10"/>
          <p:cNvSpPr txBox="1"/>
          <p:nvPr/>
        </p:nvSpPr>
        <p:spPr>
          <a:xfrm>
            <a:off x="2670048" y="3822192"/>
            <a:ext cx="1929384" cy="274320"/>
          </a:xfrm>
          <a:prstGeom prst="rect">
            <a:avLst/>
          </a:prstGeom>
          <a:noFill/>
          <a:ln/>
        </p:spPr>
        <p:txBody>
          <a:bodyPr wrap="square" lIns="0" tIns="0" rIns="0" bIns="0" rtlCol="0" anchor="t"/>
          <a:lstStyle/>
          <a:p>
            <a:pPr algn="l" indent="0" marL="0">
              <a:lnSpc>
                <a:spcPct val="112000"/>
              </a:lnSpc>
              <a:buNone/>
            </a:pPr>
            <a:r>
              <a:rPr lang="en-US" sz="1500" dirty="0">
                <a:solidFill>
                  <a:srgbClr val="E7EAEE"/>
                </a:solidFill>
                <a:latin typeface="Inter SemiBold" pitchFamily="34" charset="0"/>
                <a:ea typeface="Inter SemiBold" pitchFamily="34" charset="-122"/>
                <a:cs typeface="Inter SemiBold" pitchFamily="34" charset="-120"/>
              </a:rPr>
              <a:t>Does it add up?</a:t>
            </a:r>
            <a:endParaRPr lang="en-US" sz="1500" dirty="0"/>
          </a:p>
        </p:txBody>
      </p:sp>
      <p:sp>
        <p:nvSpPr>
          <p:cNvPr id="13" name="Shape 11"/>
          <p:cNvSpPr/>
          <p:nvPr/>
        </p:nvSpPr>
        <p:spPr>
          <a:xfrm>
            <a:off x="5303520" y="2633472"/>
            <a:ext cx="1417320" cy="786384"/>
          </a:xfrm>
          <a:prstGeom prst="roundRect">
            <a:avLst>
              <a:gd name="adj" fmla="val 13953"/>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14" name="Text 12"/>
          <p:cNvSpPr txBox="1"/>
          <p:nvPr/>
        </p:nvSpPr>
        <p:spPr>
          <a:xfrm>
            <a:off x="5504688" y="2761488"/>
            <a:ext cx="1014984" cy="201168"/>
          </a:xfrm>
          <a:prstGeom prst="rect">
            <a:avLst/>
          </a:prstGeom>
          <a:noFill/>
          <a:ln/>
        </p:spPr>
        <p:txBody>
          <a:bodyPr wrap="square" lIns="0" tIns="0" rIns="0" bIns="0" rtlCol="0" anchor="t"/>
          <a:lstStyle/>
          <a:p>
            <a:pPr algn="l" indent="0" marL="0">
              <a:lnSpc>
                <a:spcPct val="112000"/>
              </a:lnSpc>
              <a:buNone/>
            </a:pPr>
            <a:r>
              <a:rPr lang="en-US" sz="1000" b="1" spc="100" kern="0" dirty="0">
                <a:solidFill>
                  <a:srgbClr val="2DD4BF"/>
                </a:solidFill>
                <a:latin typeface="JetBrains Mono" pitchFamily="34" charset="0"/>
                <a:ea typeface="JetBrains Mono" pitchFamily="34" charset="-122"/>
                <a:cs typeface="JetBrains Mono" pitchFamily="34" charset="-120"/>
              </a:rPr>
              <a:t>EXECUTOR</a:t>
            </a:r>
            <a:endParaRPr lang="en-US" sz="1000" dirty="0"/>
          </a:p>
        </p:txBody>
      </p:sp>
      <p:sp>
        <p:nvSpPr>
          <p:cNvPr id="15" name="Text 13"/>
          <p:cNvSpPr txBox="1"/>
          <p:nvPr/>
        </p:nvSpPr>
        <p:spPr>
          <a:xfrm>
            <a:off x="5504688" y="2999232"/>
            <a:ext cx="1014984" cy="274320"/>
          </a:xfrm>
          <a:prstGeom prst="rect">
            <a:avLst/>
          </a:prstGeom>
          <a:noFill/>
          <a:ln/>
        </p:spPr>
        <p:txBody>
          <a:bodyPr wrap="square" lIns="0" tIns="0" rIns="0" bIns="0" rtlCol="0" anchor="t"/>
          <a:lstStyle/>
          <a:p>
            <a:pPr algn="l" indent="0" marL="0">
              <a:lnSpc>
                <a:spcPct val="112000"/>
              </a:lnSpc>
              <a:buNone/>
            </a:pPr>
            <a:r>
              <a:rPr lang="en-US" sz="1500" dirty="0">
                <a:solidFill>
                  <a:srgbClr val="E7EAEE"/>
                </a:solidFill>
                <a:latin typeface="Inter SemiBold" pitchFamily="34" charset="0"/>
                <a:ea typeface="Inter SemiBold" pitchFamily="34" charset="-122"/>
                <a:cs typeface="Inter SemiBold" pitchFamily="34" charset="-120"/>
              </a:rPr>
              <a:t>Executes</a:t>
            </a:r>
            <a:endParaRPr lang="en-US" sz="1500" dirty="0"/>
          </a:p>
        </p:txBody>
      </p:sp>
      <p:sp>
        <p:nvSpPr>
          <p:cNvPr id="16" name="Shape 14"/>
          <p:cNvSpPr/>
          <p:nvPr/>
        </p:nvSpPr>
        <p:spPr>
          <a:xfrm flipV="1">
            <a:off x="2011680" y="2203704"/>
            <a:ext cx="411480" cy="822960"/>
          </a:xfrm>
          <a:prstGeom prst="line">
            <a:avLst/>
          </a:prstGeom>
          <a:noFill/>
          <a:ln w="19050">
            <a:solidFill>
              <a:srgbClr val="3A4350"/>
            </a:solidFill>
            <a:prstDash val="solid"/>
            <a:tailEnd type="triangle"/>
          </a:ln>
        </p:spPr>
      </p:sp>
      <p:sp>
        <p:nvSpPr>
          <p:cNvPr id="17" name="Shape 15"/>
          <p:cNvSpPr/>
          <p:nvPr/>
        </p:nvSpPr>
        <p:spPr>
          <a:xfrm>
            <a:off x="2011680" y="3026664"/>
            <a:ext cx="411480" cy="822960"/>
          </a:xfrm>
          <a:prstGeom prst="line">
            <a:avLst/>
          </a:prstGeom>
          <a:noFill/>
          <a:ln w="19050">
            <a:solidFill>
              <a:srgbClr val="3A4350"/>
            </a:solidFill>
            <a:prstDash val="solid"/>
            <a:tailEnd type="triangle"/>
          </a:ln>
        </p:spPr>
      </p:sp>
      <p:sp>
        <p:nvSpPr>
          <p:cNvPr id="18" name="Shape 16"/>
          <p:cNvSpPr/>
          <p:nvPr/>
        </p:nvSpPr>
        <p:spPr>
          <a:xfrm>
            <a:off x="4846320" y="2203704"/>
            <a:ext cx="411480" cy="822960"/>
          </a:xfrm>
          <a:prstGeom prst="line">
            <a:avLst/>
          </a:prstGeom>
          <a:noFill/>
          <a:ln w="19050">
            <a:solidFill>
              <a:srgbClr val="3A4350"/>
            </a:solidFill>
            <a:prstDash val="solid"/>
            <a:tailEnd type="triangle"/>
          </a:ln>
        </p:spPr>
      </p:sp>
      <p:sp>
        <p:nvSpPr>
          <p:cNvPr id="19" name="Shape 17"/>
          <p:cNvSpPr/>
          <p:nvPr/>
        </p:nvSpPr>
        <p:spPr>
          <a:xfrm flipV="1">
            <a:off x="4846320" y="3026664"/>
            <a:ext cx="411480" cy="822960"/>
          </a:xfrm>
          <a:prstGeom prst="line">
            <a:avLst/>
          </a:prstGeom>
          <a:noFill/>
          <a:ln w="19050">
            <a:solidFill>
              <a:srgbClr val="2DD4BF"/>
            </a:solidFill>
            <a:prstDash val="solid"/>
            <a:tailEnd type="triangle"/>
          </a:ln>
        </p:spPr>
      </p:sp>
      <p:sp>
        <p:nvSpPr>
          <p:cNvPr id="20" name="Text 18"/>
          <p:cNvSpPr txBox="1"/>
          <p:nvPr/>
        </p:nvSpPr>
        <p:spPr>
          <a:xfrm>
            <a:off x="7086600" y="1810512"/>
            <a:ext cx="4556455" cy="201168"/>
          </a:xfrm>
          <a:prstGeom prst="rect">
            <a:avLst/>
          </a:prstGeom>
          <a:noFill/>
          <a:ln/>
        </p:spPr>
        <p:txBody>
          <a:bodyPr wrap="square" lIns="0" tIns="0" rIns="0" bIns="0" rtlCol="0" anchor="t"/>
          <a:lstStyle/>
          <a:p>
            <a:pPr algn="l" indent="0" marL="0">
              <a:lnSpc>
                <a:spcPct val="112000"/>
              </a:lnSpc>
              <a:buNone/>
            </a:pPr>
            <a:r>
              <a:rPr lang="en-US" sz="1000" b="1" spc="100" kern="0" dirty="0">
                <a:solidFill>
                  <a:srgbClr val="2DD4BF"/>
                </a:solidFill>
                <a:latin typeface="JetBrains Mono" pitchFamily="34" charset="0"/>
                <a:ea typeface="JetBrains Mono" pitchFamily="34" charset="-122"/>
                <a:cs typeface="JetBrains Mono" pitchFamily="34" charset="-120"/>
              </a:rPr>
              <a:t>CCIP 2.0  ·  LIVE SINCE SEPT 28, 2026</a:t>
            </a:r>
            <a:endParaRPr lang="en-US" sz="1000" dirty="0"/>
          </a:p>
        </p:txBody>
      </p:sp>
      <p:sp>
        <p:nvSpPr>
          <p:cNvPr id="21" name="Text 19"/>
          <p:cNvSpPr txBox="1"/>
          <p:nvPr/>
        </p:nvSpPr>
        <p:spPr>
          <a:xfrm>
            <a:off x="7086600" y="2057400"/>
            <a:ext cx="4556455" cy="512064"/>
          </a:xfrm>
          <a:prstGeom prst="rect">
            <a:avLst/>
          </a:prstGeom>
          <a:noFill/>
          <a:ln/>
        </p:spPr>
        <p:txBody>
          <a:bodyPr wrap="square" lIns="0" tIns="0" rIns="0" bIns="0" rtlCol="0" anchor="t"/>
          <a:lstStyle/>
          <a:p>
            <a:pPr algn="l" indent="0" marL="0">
              <a:lnSpc>
                <a:spcPct val="115000"/>
              </a:lnSpc>
              <a:buNone/>
            </a:pPr>
            <a:r>
              <a:rPr lang="en-US" sz="1400" dirty="0">
                <a:solidFill>
                  <a:srgbClr val="E7EAEE"/>
                </a:solidFill>
                <a:latin typeface="Inter" pitchFamily="34" charset="0"/>
                <a:ea typeface="Inter" pitchFamily="34" charset="-122"/>
                <a:cs typeface="Inter" pitchFamily="34" charset="-120"/>
              </a:rPr>
              <a:t>An issuer can require its own CCV. Verifiers set their own fee in an open marketplace.</a:t>
            </a:r>
            <a:endParaRPr lang="en-US" sz="1400" dirty="0"/>
          </a:p>
        </p:txBody>
      </p:sp>
      <p:sp>
        <p:nvSpPr>
          <p:cNvPr id="22" name="Text 20"/>
          <p:cNvSpPr txBox="1"/>
          <p:nvPr/>
        </p:nvSpPr>
        <p:spPr>
          <a:xfrm>
            <a:off x="7086600" y="2679192"/>
            <a:ext cx="4556455" cy="201168"/>
          </a:xfrm>
          <a:prstGeom prst="rect">
            <a:avLst/>
          </a:prstGeom>
          <a:noFill/>
          <a:ln/>
        </p:spPr>
        <p:txBody>
          <a:bodyPr wrap="square" lIns="0" tIns="0" rIns="0" bIns="0" rtlCol="0" anchor="t"/>
          <a:lstStyle/>
          <a:p>
            <a:pPr algn="l" indent="0" marL="0">
              <a:lnSpc>
                <a:spcPct val="112000"/>
              </a:lnSpc>
              <a:buNone/>
            </a:pPr>
            <a:r>
              <a:rPr lang="en-US" sz="1000" b="1" spc="100" kern="0" dirty="0">
                <a:solidFill>
                  <a:srgbClr val="2DD4BF"/>
                </a:solidFill>
                <a:latin typeface="JetBrains Mono" pitchFamily="34" charset="0"/>
                <a:ea typeface="JetBrains Mono" pitchFamily="34" charset="-122"/>
                <a:cs typeface="JetBrains Mono" pitchFamily="34" charset="-120"/>
              </a:rPr>
              <a:t>CRE  ·  DON CONSENSUS</a:t>
            </a:r>
            <a:endParaRPr lang="en-US" sz="1000" dirty="0"/>
          </a:p>
        </p:txBody>
      </p:sp>
      <p:sp>
        <p:nvSpPr>
          <p:cNvPr id="23" name="Text 21"/>
          <p:cNvSpPr txBox="1"/>
          <p:nvPr/>
        </p:nvSpPr>
        <p:spPr>
          <a:xfrm>
            <a:off x="7086600" y="2926080"/>
            <a:ext cx="4556455" cy="512064"/>
          </a:xfrm>
          <a:prstGeom prst="rect">
            <a:avLst/>
          </a:prstGeom>
          <a:noFill/>
          <a:ln/>
        </p:spPr>
        <p:txBody>
          <a:bodyPr wrap="square" lIns="0" tIns="0" rIns="0" bIns="0" rtlCol="0" anchor="t"/>
          <a:lstStyle/>
          <a:p>
            <a:pPr algn="l" indent="0" marL="0">
              <a:lnSpc>
                <a:spcPct val="115000"/>
              </a:lnSpc>
              <a:buNone/>
            </a:pPr>
            <a:r>
              <a:rPr lang="en-US" sz="1400" dirty="0">
                <a:solidFill>
                  <a:srgbClr val="E7EAEE"/>
                </a:solidFill>
                <a:latin typeface="Inter" pitchFamily="34" charset="0"/>
                <a:ea typeface="Inter" pitchFamily="34" charset="-122"/>
                <a:cs typeface="Inter" pitchFamily="34" charset="-120"/>
              </a:rPr>
              <a:t>W1 to W4 read three chains at pinned finalized blocks and write signed reports onchain.</a:t>
            </a:r>
            <a:endParaRPr lang="en-US" sz="1400" dirty="0"/>
          </a:p>
        </p:txBody>
      </p:sp>
      <p:sp>
        <p:nvSpPr>
          <p:cNvPr id="24" name="Text 22"/>
          <p:cNvSpPr txBox="1"/>
          <p:nvPr/>
        </p:nvSpPr>
        <p:spPr>
          <a:xfrm>
            <a:off x="7086600" y="3547872"/>
            <a:ext cx="4556455" cy="201168"/>
          </a:xfrm>
          <a:prstGeom prst="rect">
            <a:avLst/>
          </a:prstGeom>
          <a:noFill/>
          <a:ln/>
        </p:spPr>
        <p:txBody>
          <a:bodyPr wrap="square" lIns="0" tIns="0" rIns="0" bIns="0" rtlCol="0" anchor="t"/>
          <a:lstStyle/>
          <a:p>
            <a:pPr algn="l" indent="0" marL="0">
              <a:lnSpc>
                <a:spcPct val="112000"/>
              </a:lnSpc>
              <a:buNone/>
            </a:pPr>
            <a:r>
              <a:rPr lang="en-US" sz="1000" b="1" spc="100" kern="0" dirty="0">
                <a:solidFill>
                  <a:srgbClr val="2DD4BF"/>
                </a:solidFill>
                <a:latin typeface="JetBrains Mono" pitchFamily="34" charset="0"/>
                <a:ea typeface="JetBrains Mono" pitchFamily="34" charset="-122"/>
                <a:cs typeface="JetBrains Mono" pitchFamily="34" charset="-120"/>
              </a:rPr>
              <a:t>BESIDE, NEVER INSTEAD</a:t>
            </a:r>
            <a:endParaRPr lang="en-US" sz="1000" dirty="0"/>
          </a:p>
        </p:txBody>
      </p:sp>
      <p:sp>
        <p:nvSpPr>
          <p:cNvPr id="25" name="Text 23"/>
          <p:cNvSpPr txBox="1"/>
          <p:nvPr/>
        </p:nvSpPr>
        <p:spPr>
          <a:xfrm>
            <a:off x="7086600" y="3794760"/>
            <a:ext cx="4556455" cy="512064"/>
          </a:xfrm>
          <a:prstGeom prst="rect">
            <a:avLst/>
          </a:prstGeom>
          <a:noFill/>
          <a:ln/>
        </p:spPr>
        <p:txBody>
          <a:bodyPr wrap="square" lIns="0" tIns="0" rIns="0" bIns="0" rtlCol="0" anchor="t"/>
          <a:lstStyle/>
          <a:p>
            <a:pPr algn="l" indent="0" marL="0">
              <a:lnSpc>
                <a:spcPct val="115000"/>
              </a:lnSpc>
              <a:buNone/>
            </a:pPr>
            <a:r>
              <a:rPr lang="en-US" sz="1400" dirty="0">
                <a:solidFill>
                  <a:srgbClr val="E7EAEE"/>
                </a:solidFill>
                <a:latin typeface="Inter" pitchFamily="34" charset="0"/>
                <a:ea typeface="Inter" pitchFamily="34" charset="-122"/>
                <a:cs typeface="Inter" pitchFamily="34" charset="-120"/>
              </a:rPr>
              <a:t>We never replace the Committee Verifier. Our FAIL withholds a signature; it never forges one.</a:t>
            </a:r>
            <a:endParaRPr lang="en-US" sz="1400" dirty="0"/>
          </a:p>
        </p:txBody>
      </p:sp>
      <p:sp>
        <p:nvSpPr>
          <p:cNvPr id="26" name="Shape 24"/>
          <p:cNvSpPr/>
          <p:nvPr/>
        </p:nvSpPr>
        <p:spPr>
          <a:xfrm>
            <a:off x="548640" y="4526280"/>
            <a:ext cx="2636444" cy="768096"/>
          </a:xfrm>
          <a:prstGeom prst="roundRect">
            <a:avLst>
              <a:gd name="adj" fmla="val 11905"/>
            </a:avLst>
          </a:prstGeom>
          <a:solidFill>
            <a:srgbClr val="12151A"/>
          </a:solidFill>
          <a:ln w="9525">
            <a:solidFill>
              <a:srgbClr val="2A313B"/>
            </a:solidFill>
            <a:prstDash val="solid"/>
          </a:ln>
        </p:spPr>
      </p:sp>
      <p:sp>
        <p:nvSpPr>
          <p:cNvPr id="27" name="Text 25"/>
          <p:cNvSpPr txBox="1"/>
          <p:nvPr/>
        </p:nvSpPr>
        <p:spPr>
          <a:xfrm>
            <a:off x="749808" y="4617720"/>
            <a:ext cx="2234108" cy="347472"/>
          </a:xfrm>
          <a:prstGeom prst="rect">
            <a:avLst/>
          </a:prstGeom>
          <a:noFill/>
          <a:ln/>
        </p:spPr>
        <p:txBody>
          <a:bodyPr wrap="square" lIns="0" tIns="0" rIns="0" bIns="0" rtlCol="0" anchor="ctr"/>
          <a:lstStyle/>
          <a:p>
            <a:pPr algn="l" indent="0" marL="0">
              <a:lnSpc>
                <a:spcPct val="112000"/>
              </a:lnSpc>
              <a:buNone/>
            </a:pPr>
            <a:r>
              <a:rPr lang="en-US" sz="2000" b="1" dirty="0">
                <a:solidFill>
                  <a:srgbClr val="E7EAEE"/>
                </a:solidFill>
                <a:latin typeface="JetBrains Mono" pitchFamily="34" charset="0"/>
                <a:ea typeface="JetBrains Mono" pitchFamily="34" charset="-122"/>
                <a:cs typeface="JetBrains Mono" pitchFamily="34" charset="-120"/>
              </a:rPr>
              <a:t>6 / 6</a:t>
            </a:r>
            <a:endParaRPr lang="en-US" sz="2000" dirty="0"/>
          </a:p>
        </p:txBody>
      </p:sp>
      <p:sp>
        <p:nvSpPr>
          <p:cNvPr id="28" name="Text 26"/>
          <p:cNvSpPr txBox="1"/>
          <p:nvPr/>
        </p:nvSpPr>
        <p:spPr>
          <a:xfrm>
            <a:off x="749808" y="4983480"/>
            <a:ext cx="2234108" cy="201168"/>
          </a:xfrm>
          <a:prstGeom prst="rect">
            <a:avLst/>
          </a:prstGeom>
          <a:noFill/>
          <a:ln/>
        </p:spPr>
        <p:txBody>
          <a:bodyPr wrap="square" lIns="0" tIns="0" rIns="0" bIns="0" rtlCol="0" anchor="t"/>
          <a:lstStyle/>
          <a:p>
            <a:pPr algn="l" indent="0" marL="0">
              <a:lnSpc>
                <a:spcPct val="112000"/>
              </a:lnSpc>
              <a:buNone/>
            </a:pPr>
            <a:r>
              <a:rPr lang="en-US" sz="1050" dirty="0">
                <a:solidFill>
                  <a:srgbClr val="9AA3AF"/>
                </a:solidFill>
                <a:latin typeface="Inter" pitchFamily="34" charset="0"/>
                <a:ea typeface="Inter" pitchFamily="34" charset="-122"/>
                <a:cs typeface="Inter" pitchFamily="34" charset="-120"/>
              </a:rPr>
              <a:t>PRD scenarios, CRE simulate</a:t>
            </a:r>
            <a:endParaRPr lang="en-US" sz="1050" dirty="0"/>
          </a:p>
        </p:txBody>
      </p:sp>
      <p:sp>
        <p:nvSpPr>
          <p:cNvPr id="29" name="Shape 27"/>
          <p:cNvSpPr/>
          <p:nvPr/>
        </p:nvSpPr>
        <p:spPr>
          <a:xfrm>
            <a:off x="3367964" y="4526280"/>
            <a:ext cx="2636444" cy="768096"/>
          </a:xfrm>
          <a:prstGeom prst="roundRect">
            <a:avLst>
              <a:gd name="adj" fmla="val 11905"/>
            </a:avLst>
          </a:prstGeom>
          <a:solidFill>
            <a:srgbClr val="12151A"/>
          </a:solidFill>
          <a:ln w="9525">
            <a:solidFill>
              <a:srgbClr val="2A313B"/>
            </a:solidFill>
            <a:prstDash val="solid"/>
          </a:ln>
        </p:spPr>
      </p:sp>
      <p:sp>
        <p:nvSpPr>
          <p:cNvPr id="30" name="Text 28"/>
          <p:cNvSpPr txBox="1"/>
          <p:nvPr/>
        </p:nvSpPr>
        <p:spPr>
          <a:xfrm>
            <a:off x="3569132" y="4617720"/>
            <a:ext cx="2234108" cy="347472"/>
          </a:xfrm>
          <a:prstGeom prst="rect">
            <a:avLst/>
          </a:prstGeom>
          <a:noFill/>
          <a:ln/>
        </p:spPr>
        <p:txBody>
          <a:bodyPr wrap="square" lIns="0" tIns="0" rIns="0" bIns="0" rtlCol="0" anchor="ctr"/>
          <a:lstStyle/>
          <a:p>
            <a:pPr algn="l" indent="0" marL="0">
              <a:lnSpc>
                <a:spcPct val="112000"/>
              </a:lnSpc>
              <a:buNone/>
            </a:pPr>
            <a:r>
              <a:rPr lang="en-US" sz="2000" b="1" dirty="0">
                <a:solidFill>
                  <a:srgbClr val="E7EAEE"/>
                </a:solidFill>
                <a:latin typeface="JetBrains Mono" pitchFamily="34" charset="0"/>
                <a:ea typeface="JetBrains Mono" pitchFamily="34" charset="-122"/>
                <a:cs typeface="JetBrains Mono" pitchFamily="34" charset="-120"/>
              </a:rPr>
              <a:t>12 / 15</a:t>
            </a:r>
            <a:endParaRPr lang="en-US" sz="2000" dirty="0"/>
          </a:p>
        </p:txBody>
      </p:sp>
      <p:sp>
        <p:nvSpPr>
          <p:cNvPr id="31" name="Text 29"/>
          <p:cNvSpPr txBox="1"/>
          <p:nvPr/>
        </p:nvSpPr>
        <p:spPr>
          <a:xfrm>
            <a:off x="3569132" y="4983480"/>
            <a:ext cx="2234108" cy="201168"/>
          </a:xfrm>
          <a:prstGeom prst="rect">
            <a:avLst/>
          </a:prstGeom>
          <a:noFill/>
          <a:ln/>
        </p:spPr>
        <p:txBody>
          <a:bodyPr wrap="square" lIns="0" tIns="0" rIns="0" bIns="0" rtlCol="0" anchor="t"/>
          <a:lstStyle/>
          <a:p>
            <a:pPr algn="l" indent="0" marL="0">
              <a:lnSpc>
                <a:spcPct val="112000"/>
              </a:lnSpc>
              <a:buNone/>
            </a:pPr>
            <a:r>
              <a:rPr lang="en-US" sz="1050" dirty="0">
                <a:solidFill>
                  <a:srgbClr val="9AA3AF"/>
                </a:solidFill>
                <a:latin typeface="Inter" pitchFamily="34" charset="0"/>
                <a:ea typeface="Inter" pitchFamily="34" charset="-122"/>
                <a:cs typeface="Inter" pitchFamily="34" charset="-120"/>
              </a:rPr>
              <a:t>CRE reads per W2 run</a:t>
            </a:r>
            <a:endParaRPr lang="en-US" sz="1050" dirty="0"/>
          </a:p>
        </p:txBody>
      </p:sp>
      <p:sp>
        <p:nvSpPr>
          <p:cNvPr id="32" name="Shape 30"/>
          <p:cNvSpPr/>
          <p:nvPr/>
        </p:nvSpPr>
        <p:spPr>
          <a:xfrm>
            <a:off x="6187288" y="4526280"/>
            <a:ext cx="2636444" cy="768096"/>
          </a:xfrm>
          <a:prstGeom prst="roundRect">
            <a:avLst>
              <a:gd name="adj" fmla="val 11905"/>
            </a:avLst>
          </a:prstGeom>
          <a:solidFill>
            <a:srgbClr val="12151A"/>
          </a:solidFill>
          <a:ln w="9525">
            <a:solidFill>
              <a:srgbClr val="2A313B"/>
            </a:solidFill>
            <a:prstDash val="solid"/>
          </a:ln>
        </p:spPr>
      </p:sp>
      <p:sp>
        <p:nvSpPr>
          <p:cNvPr id="33" name="Text 31"/>
          <p:cNvSpPr txBox="1"/>
          <p:nvPr/>
        </p:nvSpPr>
        <p:spPr>
          <a:xfrm>
            <a:off x="6388456" y="4617720"/>
            <a:ext cx="2234108" cy="347472"/>
          </a:xfrm>
          <a:prstGeom prst="rect">
            <a:avLst/>
          </a:prstGeom>
          <a:noFill/>
          <a:ln/>
        </p:spPr>
        <p:txBody>
          <a:bodyPr wrap="square" lIns="0" tIns="0" rIns="0" bIns="0" rtlCol="0" anchor="ctr"/>
          <a:lstStyle/>
          <a:p>
            <a:pPr algn="l" indent="0" marL="0">
              <a:lnSpc>
                <a:spcPct val="112000"/>
              </a:lnSpc>
              <a:buNone/>
            </a:pPr>
            <a:r>
              <a:rPr lang="en-US" sz="2000" b="1" dirty="0">
                <a:solidFill>
                  <a:srgbClr val="E7EAEE"/>
                </a:solidFill>
                <a:latin typeface="JetBrains Mono" pitchFamily="34" charset="0"/>
                <a:ea typeface="JetBrains Mono" pitchFamily="34" charset="-122"/>
                <a:cs typeface="JetBrains Mono" pitchFamily="34" charset="-120"/>
              </a:rPr>
              <a:t>6.13 ms</a:t>
            </a:r>
            <a:endParaRPr lang="en-US" sz="2000" dirty="0"/>
          </a:p>
        </p:txBody>
      </p:sp>
      <p:sp>
        <p:nvSpPr>
          <p:cNvPr id="34" name="Text 32"/>
          <p:cNvSpPr txBox="1"/>
          <p:nvPr/>
        </p:nvSpPr>
        <p:spPr>
          <a:xfrm>
            <a:off x="6388456" y="4983480"/>
            <a:ext cx="2234108" cy="201168"/>
          </a:xfrm>
          <a:prstGeom prst="rect">
            <a:avLst/>
          </a:prstGeom>
          <a:noFill/>
          <a:ln/>
        </p:spPr>
        <p:txBody>
          <a:bodyPr wrap="square" lIns="0" tIns="0" rIns="0" bIns="0" rtlCol="0" anchor="t"/>
          <a:lstStyle/>
          <a:p>
            <a:pPr algn="l" indent="0" marL="0">
              <a:lnSpc>
                <a:spcPct val="112000"/>
              </a:lnSpc>
              <a:buNone/>
            </a:pPr>
            <a:r>
              <a:rPr lang="en-US" sz="1050" dirty="0">
                <a:solidFill>
                  <a:srgbClr val="9AA3AF"/>
                </a:solidFill>
                <a:latin typeface="Inter" pitchFamily="34" charset="0"/>
                <a:ea typeface="Inter" pitchFamily="34" charset="-122"/>
                <a:cs typeface="Inter" pitchFamily="34" charset="-120"/>
              </a:rPr>
              <a:t>Judge p99, 100 rps, stub RPCs</a:t>
            </a:r>
            <a:endParaRPr lang="en-US" sz="1050" dirty="0"/>
          </a:p>
        </p:txBody>
      </p:sp>
      <p:sp>
        <p:nvSpPr>
          <p:cNvPr id="35" name="Shape 33"/>
          <p:cNvSpPr/>
          <p:nvPr/>
        </p:nvSpPr>
        <p:spPr>
          <a:xfrm>
            <a:off x="9006611" y="4526280"/>
            <a:ext cx="2636444" cy="768096"/>
          </a:xfrm>
          <a:prstGeom prst="roundRect">
            <a:avLst>
              <a:gd name="adj" fmla="val 11905"/>
            </a:avLst>
          </a:prstGeom>
          <a:solidFill>
            <a:srgbClr val="12151A"/>
          </a:solidFill>
          <a:ln w="9525">
            <a:solidFill>
              <a:srgbClr val="2A313B"/>
            </a:solidFill>
            <a:prstDash val="solid"/>
          </a:ln>
        </p:spPr>
      </p:sp>
      <p:sp>
        <p:nvSpPr>
          <p:cNvPr id="36" name="Text 34"/>
          <p:cNvSpPr txBox="1"/>
          <p:nvPr/>
        </p:nvSpPr>
        <p:spPr>
          <a:xfrm>
            <a:off x="9207779" y="4617720"/>
            <a:ext cx="2234108" cy="347472"/>
          </a:xfrm>
          <a:prstGeom prst="rect">
            <a:avLst/>
          </a:prstGeom>
          <a:noFill/>
          <a:ln/>
        </p:spPr>
        <p:txBody>
          <a:bodyPr wrap="square" lIns="0" tIns="0" rIns="0" bIns="0" rtlCol="0" anchor="ctr"/>
          <a:lstStyle/>
          <a:p>
            <a:pPr algn="l" indent="0" marL="0">
              <a:lnSpc>
                <a:spcPct val="112000"/>
              </a:lnSpc>
              <a:buNone/>
            </a:pPr>
            <a:r>
              <a:rPr lang="en-US" sz="2000" b="1" dirty="0">
                <a:solidFill>
                  <a:srgbClr val="E7EAEE"/>
                </a:solidFill>
                <a:latin typeface="JetBrains Mono" pitchFamily="34" charset="0"/>
                <a:ea typeface="JetBrains Mono" pitchFamily="34" charset="-122"/>
                <a:cs typeface="JetBrains Mono" pitchFamily="34" charset="-120"/>
              </a:rPr>
              <a:t>586 / 586</a:t>
            </a:r>
            <a:endParaRPr lang="en-US" sz="2000" dirty="0"/>
          </a:p>
        </p:txBody>
      </p:sp>
      <p:sp>
        <p:nvSpPr>
          <p:cNvPr id="37" name="Text 35"/>
          <p:cNvSpPr txBox="1"/>
          <p:nvPr/>
        </p:nvSpPr>
        <p:spPr>
          <a:xfrm>
            <a:off x="9207779" y="4983480"/>
            <a:ext cx="2234108" cy="201168"/>
          </a:xfrm>
          <a:prstGeom prst="rect">
            <a:avLst/>
          </a:prstGeom>
          <a:noFill/>
          <a:ln/>
        </p:spPr>
        <p:txBody>
          <a:bodyPr wrap="square" lIns="0" tIns="0" rIns="0" bIns="0" rtlCol="0" anchor="t"/>
          <a:lstStyle/>
          <a:p>
            <a:pPr algn="l" indent="0" marL="0">
              <a:lnSpc>
                <a:spcPct val="112000"/>
              </a:lnSpc>
              <a:buNone/>
            </a:pPr>
            <a:r>
              <a:rPr lang="en-US" sz="1050" dirty="0">
                <a:solidFill>
                  <a:srgbClr val="9AA3AF"/>
                </a:solidFill>
                <a:latin typeface="Inter" pitchFamily="34" charset="0"/>
                <a:ea typeface="Inter" pitchFamily="34" charset="-122"/>
                <a:cs typeface="Inter" pitchFamily="34" charset="-120"/>
              </a:rPr>
              <a:t>engine branches covered</a:t>
            </a:r>
            <a:endParaRPr lang="en-US" sz="1050" dirty="0"/>
          </a:p>
        </p:txBody>
      </p:sp>
      <p:sp>
        <p:nvSpPr>
          <p:cNvPr id="38" name="Status today"/>
          <p:cNvSpPr/>
          <p:nvPr/>
        </p:nvSpPr>
        <p:spPr>
          <a:xfrm>
            <a:off x="548640" y="5449824"/>
            <a:ext cx="11094415" cy="694944"/>
          </a:xfrm>
          <a:prstGeom prst="roundRect">
            <a:avLst>
              <a:gd name="adj" fmla="val 15789"/>
            </a:avLst>
          </a:prstGeom>
          <a:solidFill>
            <a:srgbClr val="1D1830"/>
          </a:solidFill>
          <a:ln w="9525">
            <a:solidFill>
              <a:srgbClr val="4A3D73"/>
            </a:solidFill>
            <a:prstDash val="solid"/>
          </a:ln>
        </p:spPr>
      </p:sp>
      <p:sp>
        <p:nvSpPr>
          <p:cNvPr id="39" name="Shape 37"/>
          <p:cNvSpPr/>
          <p:nvPr/>
        </p:nvSpPr>
        <p:spPr>
          <a:xfrm>
            <a:off x="777240" y="5669280"/>
            <a:ext cx="1481328" cy="274320"/>
          </a:xfrm>
          <a:prstGeom prst="roundRect">
            <a:avLst>
              <a:gd name="adj" fmla="val 50000"/>
            </a:avLst>
          </a:prstGeom>
          <a:solidFill>
            <a:srgbClr val="1D1830"/>
          </a:solidFill>
          <a:ln w="9525">
            <a:solidFill>
              <a:srgbClr val="4A3D73"/>
            </a:solidFill>
            <a:prstDash val="solid"/>
          </a:ln>
        </p:spPr>
      </p:sp>
      <p:sp>
        <p:nvSpPr>
          <p:cNvPr id="40" name="Shape 38"/>
          <p:cNvSpPr/>
          <p:nvPr/>
        </p:nvSpPr>
        <p:spPr>
          <a:xfrm>
            <a:off x="896112" y="5769864"/>
            <a:ext cx="73152" cy="73152"/>
          </a:xfrm>
          <a:prstGeom prst="ellipse">
            <a:avLst/>
          </a:prstGeom>
          <a:solidFill>
            <a:srgbClr val="A78BFA"/>
          </a:solidFill>
          <a:ln/>
        </p:spPr>
      </p:sp>
      <p:sp>
        <p:nvSpPr>
          <p:cNvPr id="41" name="Text 39"/>
          <p:cNvSpPr txBox="1"/>
          <p:nvPr/>
        </p:nvSpPr>
        <p:spPr>
          <a:xfrm>
            <a:off x="1033272" y="5669280"/>
            <a:ext cx="1188720" cy="274320"/>
          </a:xfrm>
          <a:prstGeom prst="rect">
            <a:avLst/>
          </a:prstGeom>
          <a:noFill/>
          <a:ln/>
        </p:spPr>
        <p:txBody>
          <a:bodyPr wrap="square" lIns="0" tIns="0" rIns="0" bIns="0" rtlCol="0" anchor="ctr"/>
          <a:lstStyle/>
          <a:p>
            <a:pPr algn="l" indent="0" marL="0">
              <a:lnSpc>
                <a:spcPct val="112000"/>
              </a:lnSpc>
              <a:buNone/>
            </a:pPr>
            <a:r>
              <a:rPr lang="en-US" sz="1000" b="1" spc="100" kern="0" dirty="0">
                <a:solidFill>
                  <a:srgbClr val="A78BFA"/>
                </a:solidFill>
                <a:latin typeface="JetBrains Mono" pitchFamily="34" charset="0"/>
                <a:ea typeface="JetBrains Mono" pitchFamily="34" charset="-122"/>
                <a:cs typeface="JetBrains Mono" pitchFamily="34" charset="-120"/>
              </a:rPr>
              <a:t>STATUS TODAY</a:t>
            </a:r>
            <a:endParaRPr lang="en-US" sz="1000" dirty="0"/>
          </a:p>
        </p:txBody>
      </p:sp>
      <p:sp>
        <p:nvSpPr>
          <p:cNvPr id="42" name="Text 40"/>
          <p:cNvSpPr txBox="1"/>
          <p:nvPr/>
        </p:nvSpPr>
        <p:spPr>
          <a:xfrm>
            <a:off x="2468880" y="5532120"/>
            <a:ext cx="8945575" cy="530352"/>
          </a:xfrm>
          <a:prstGeom prst="rect">
            <a:avLst/>
          </a:prstGeom>
          <a:noFill/>
          <a:ln/>
        </p:spPr>
        <p:txBody>
          <a:bodyPr wrap="square" lIns="0" tIns="0" rIns="0" bIns="0" rtlCol="0" anchor="ctr"/>
          <a:lstStyle/>
          <a:p>
            <a:pPr algn="l" indent="0" marL="0">
              <a:lnSpc>
                <a:spcPct val="110000"/>
              </a:lnSpc>
              <a:buNone/>
            </a:pPr>
            <a:r>
              <a:rPr lang="en-US" sz="1400" dirty="0">
                <a:solidFill>
                  <a:srgbClr val="E7EAEE"/>
                </a:solidFill>
                <a:latin typeface="Inter" pitchFamily="34" charset="0"/>
                <a:ea typeface="Inter" pitchFamily="34" charset="-122"/>
                <a:cs typeface="Inter" pitchFamily="34" charset="-120"/>
              </a:rPr>
              <a:t>Live CCV attestation onboarding is pending, so Fallback B (KirchhoffTokenPool) enforces live on CCIP testnet lanes. CRE deploy access is pending, so W1 to W4 run via cre workflow simulate.</a:t>
            </a:r>
            <a:endParaRPr lang="en-US" sz="1400" dirty="0"/>
          </a:p>
        </p:txBody>
      </p:sp>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475488"/>
            <a:ext cx="8229600" cy="237744"/>
          </a:xfrm>
          <a:prstGeom prst="rect">
            <a:avLst/>
          </a:prstGeom>
          <a:noFill/>
          <a:ln/>
        </p:spPr>
        <p:txBody>
          <a:bodyPr wrap="square" lIns="0" tIns="0" rIns="0" bIns="0" rtlCol="0" anchor="ctr"/>
          <a:lstStyle/>
          <a:p>
            <a:pPr algn="l" indent="0" marL="0">
              <a:lnSpc>
                <a:spcPct val="112000"/>
              </a:lnSpc>
              <a:buNone/>
            </a:pPr>
            <a:r>
              <a:rPr lang="en-US" sz="1100" b="1" spc="300" kern="0" dirty="0">
                <a:solidFill>
                  <a:srgbClr val="2DD4BF"/>
                </a:solidFill>
                <a:latin typeface="JetBrains Mono" pitchFamily="34" charset="0"/>
                <a:ea typeface="JetBrains Mono" pitchFamily="34" charset="-122"/>
                <a:cs typeface="JetBrains Mono" pitchFamily="34" charset="-120"/>
              </a:rPr>
              <a:t>BUSINESS</a:t>
            </a:r>
            <a:endParaRPr lang="en-US" sz="1100" dirty="0"/>
          </a:p>
        </p:txBody>
      </p:sp>
      <p:sp>
        <p:nvSpPr>
          <p:cNvPr id="3" name="Text 0"/>
          <p:cNvSpPr/>
          <p:nvPr>
            <p:ph idx="100" type="title" hasCustomPrompt="1"/>
          </p:nvPr>
        </p:nvSpPr>
        <p:spPr>
          <a:xfrm>
            <a:off x="548640" y="768096"/>
            <a:ext cx="11094415" cy="713232"/>
          </a:xfrm>
          <a:prstGeom prst="rect">
            <a:avLst/>
          </a:prstGeom>
          <a:noFill/>
          <a:ln/>
        </p:spPr>
        <p:txBody>
          <a:bodyPr wrap="square" lIns="0" tIns="0" rIns="0" bIns="0" rtlCol="0" anchor="t"/>
          <a:lstStyle/>
          <a:p>
            <a:pPr algn="l" indent="0" marL="0">
              <a:buNone/>
            </a:pPr>
            <a:r>
              <a:rPr lang="en-US" sz="3600" spc="-50" kern="0" dirty="0">
                <a:solidFill>
                  <a:srgbClr val="E7EAEE"/>
                </a:solidFill>
                <a:latin typeface="Inter SemiBold" pitchFamily="34" charset="0"/>
                <a:ea typeface="Inter SemiBold" pitchFamily="34" charset="-122"/>
                <a:cs typeface="Inter SemiBold" pitchFamily="34" charset="-120"/>
              </a:rPr>
              <a:t>Paid per message, per token, per market</a:t>
            </a:r>
            <a:endParaRPr lang="en-US" sz="3600" dirty="0"/>
          </a:p>
        </p:txBody>
      </p:sp>
      <p:sp>
        <p:nvSpPr>
          <p:cNvPr id="4" name="CCV verification fee"/>
          <p:cNvSpPr/>
          <p:nvPr/>
        </p:nvSpPr>
        <p:spPr>
          <a:xfrm>
            <a:off x="548640" y="1810512"/>
            <a:ext cx="3515258" cy="2423160"/>
          </a:xfrm>
          <a:prstGeom prst="roundRect">
            <a:avLst>
              <a:gd name="adj" fmla="val 5283"/>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5" name="Text 3"/>
          <p:cNvSpPr txBox="1"/>
          <p:nvPr/>
        </p:nvSpPr>
        <p:spPr>
          <a:xfrm>
            <a:off x="914400" y="2084832"/>
            <a:ext cx="914400" cy="457200"/>
          </a:xfrm>
          <a:prstGeom prst="rect">
            <a:avLst/>
          </a:prstGeom>
          <a:noFill/>
          <a:ln/>
        </p:spPr>
        <p:txBody>
          <a:bodyPr wrap="square" lIns="0" tIns="0" rIns="0" bIns="0" rtlCol="0" anchor="ctr"/>
          <a:lstStyle/>
          <a:p>
            <a:pPr algn="l" indent="0" marL="0">
              <a:lnSpc>
                <a:spcPct val="112000"/>
              </a:lnSpc>
              <a:buNone/>
            </a:pPr>
            <a:r>
              <a:rPr lang="en-US" sz="2800" b="1" dirty="0">
                <a:solidFill>
                  <a:srgbClr val="2DD4BF"/>
                </a:solidFill>
                <a:latin typeface="JetBrains Mono" pitchFamily="34" charset="0"/>
                <a:ea typeface="JetBrains Mono" pitchFamily="34" charset="-122"/>
                <a:cs typeface="JetBrains Mono" pitchFamily="34" charset="-120"/>
              </a:rPr>
              <a:t>01</a:t>
            </a:r>
            <a:endParaRPr lang="en-US" sz="2800" dirty="0"/>
          </a:p>
        </p:txBody>
      </p:sp>
      <p:sp>
        <p:nvSpPr>
          <p:cNvPr id="6" name="Text 4"/>
          <p:cNvSpPr txBox="1"/>
          <p:nvPr/>
        </p:nvSpPr>
        <p:spPr>
          <a:xfrm>
            <a:off x="914400" y="2651760"/>
            <a:ext cx="2783738" cy="201168"/>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9AA3AF"/>
                </a:solidFill>
                <a:latin typeface="JetBrains Mono" pitchFamily="34" charset="0"/>
                <a:ea typeface="JetBrains Mono" pitchFamily="34" charset="-122"/>
                <a:cs typeface="JetBrains Mono" pitchFamily="34" charset="-120"/>
              </a:rPr>
              <a:t>PER MESSAGE</a:t>
            </a:r>
            <a:endParaRPr lang="en-US" sz="1000" dirty="0"/>
          </a:p>
        </p:txBody>
      </p:sp>
      <p:sp>
        <p:nvSpPr>
          <p:cNvPr id="7" name="Text 5"/>
          <p:cNvSpPr txBox="1"/>
          <p:nvPr/>
        </p:nvSpPr>
        <p:spPr>
          <a:xfrm>
            <a:off x="914400" y="2907792"/>
            <a:ext cx="2783738" cy="365760"/>
          </a:xfrm>
          <a:prstGeom prst="rect">
            <a:avLst/>
          </a:prstGeom>
          <a:noFill/>
          <a:ln/>
        </p:spPr>
        <p:txBody>
          <a:bodyPr wrap="square" lIns="0" tIns="0" rIns="0" bIns="0" rtlCol="0" anchor="t"/>
          <a:lstStyle/>
          <a:p>
            <a:pPr algn="l" indent="0" marL="0">
              <a:lnSpc>
                <a:spcPct val="112000"/>
              </a:lnSpc>
              <a:buNone/>
            </a:pPr>
            <a:r>
              <a:rPr lang="en-US" sz="2000" dirty="0">
                <a:solidFill>
                  <a:srgbClr val="E7EAEE"/>
                </a:solidFill>
                <a:latin typeface="Inter SemiBold" pitchFamily="34" charset="0"/>
                <a:ea typeface="Inter SemiBold" pitchFamily="34" charset="-122"/>
                <a:cs typeface="Inter SemiBold" pitchFamily="34" charset="-120"/>
              </a:rPr>
              <a:t>CCV verification fee</a:t>
            </a:r>
            <a:endParaRPr lang="en-US" sz="2000" dirty="0"/>
          </a:p>
        </p:txBody>
      </p:sp>
      <p:sp>
        <p:nvSpPr>
          <p:cNvPr id="8" name="Text 6"/>
          <p:cNvSpPr txBox="1"/>
          <p:nvPr/>
        </p:nvSpPr>
        <p:spPr>
          <a:xfrm>
            <a:off x="914400" y="3310128"/>
            <a:ext cx="2783738" cy="685800"/>
          </a:xfrm>
          <a:prstGeom prst="rect">
            <a:avLst/>
          </a:prstGeom>
          <a:noFill/>
          <a:ln/>
        </p:spPr>
        <p:txBody>
          <a:bodyPr wrap="square" lIns="0" tIns="0" rIns="0" bIns="0" rtlCol="0" anchor="t"/>
          <a:lstStyle/>
          <a:p>
            <a:pPr algn="l" indent="0" marL="0">
              <a:lnSpc>
                <a:spcPct val="115000"/>
              </a:lnSpc>
              <a:buNone/>
            </a:pPr>
            <a:r>
              <a:rPr lang="en-US" sz="1400" dirty="0">
                <a:solidFill>
                  <a:srgbClr val="9AA3AF"/>
                </a:solidFill>
                <a:latin typeface="Inter" pitchFamily="34" charset="0"/>
                <a:ea typeface="Inter" pitchFamily="34" charset="-122"/>
                <a:cs typeface="Inter" pitchFamily="34" charset="-120"/>
              </a:rPr>
              <a:t>Our fee on top of the CCIP base fee, collected by CCIP on every protected transfer.</a:t>
            </a:r>
            <a:endParaRPr lang="en-US" sz="1400" dirty="0"/>
          </a:p>
        </p:txBody>
      </p:sp>
      <p:sp>
        <p:nvSpPr>
          <p:cNvPr id="9" name="Issuer subscription"/>
          <p:cNvSpPr/>
          <p:nvPr/>
        </p:nvSpPr>
        <p:spPr>
          <a:xfrm>
            <a:off x="4338218" y="1810512"/>
            <a:ext cx="3515258" cy="2423160"/>
          </a:xfrm>
          <a:prstGeom prst="roundRect">
            <a:avLst>
              <a:gd name="adj" fmla="val 5283"/>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10" name="Text 8"/>
          <p:cNvSpPr txBox="1"/>
          <p:nvPr/>
        </p:nvSpPr>
        <p:spPr>
          <a:xfrm>
            <a:off x="4703978" y="2084832"/>
            <a:ext cx="914400" cy="457200"/>
          </a:xfrm>
          <a:prstGeom prst="rect">
            <a:avLst/>
          </a:prstGeom>
          <a:noFill/>
          <a:ln/>
        </p:spPr>
        <p:txBody>
          <a:bodyPr wrap="square" lIns="0" tIns="0" rIns="0" bIns="0" rtlCol="0" anchor="ctr"/>
          <a:lstStyle/>
          <a:p>
            <a:pPr algn="l" indent="0" marL="0">
              <a:lnSpc>
                <a:spcPct val="112000"/>
              </a:lnSpc>
              <a:buNone/>
            </a:pPr>
            <a:r>
              <a:rPr lang="en-US" sz="2800" b="1" dirty="0">
                <a:solidFill>
                  <a:srgbClr val="2DD4BF"/>
                </a:solidFill>
                <a:latin typeface="JetBrains Mono" pitchFamily="34" charset="0"/>
                <a:ea typeface="JetBrains Mono" pitchFamily="34" charset="-122"/>
                <a:cs typeface="JetBrains Mono" pitchFamily="34" charset="-120"/>
              </a:rPr>
              <a:t>02</a:t>
            </a:r>
            <a:endParaRPr lang="en-US" sz="2800" dirty="0"/>
          </a:p>
        </p:txBody>
      </p:sp>
      <p:sp>
        <p:nvSpPr>
          <p:cNvPr id="11" name="Text 9"/>
          <p:cNvSpPr txBox="1"/>
          <p:nvPr/>
        </p:nvSpPr>
        <p:spPr>
          <a:xfrm>
            <a:off x="4703978" y="2651760"/>
            <a:ext cx="2783738" cy="201168"/>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9AA3AF"/>
                </a:solidFill>
                <a:latin typeface="JetBrains Mono" pitchFamily="34" charset="0"/>
                <a:ea typeface="JetBrains Mono" pitchFamily="34" charset="-122"/>
                <a:cs typeface="JetBrains Mono" pitchFamily="34" charset="-120"/>
              </a:rPr>
              <a:t>PER TOKEN</a:t>
            </a:r>
            <a:endParaRPr lang="en-US" sz="1000" dirty="0"/>
          </a:p>
        </p:txBody>
      </p:sp>
      <p:sp>
        <p:nvSpPr>
          <p:cNvPr id="12" name="Text 10"/>
          <p:cNvSpPr txBox="1"/>
          <p:nvPr/>
        </p:nvSpPr>
        <p:spPr>
          <a:xfrm>
            <a:off x="4703978" y="2907792"/>
            <a:ext cx="2783738" cy="365760"/>
          </a:xfrm>
          <a:prstGeom prst="rect">
            <a:avLst/>
          </a:prstGeom>
          <a:noFill/>
          <a:ln/>
        </p:spPr>
        <p:txBody>
          <a:bodyPr wrap="square" lIns="0" tIns="0" rIns="0" bIns="0" rtlCol="0" anchor="t"/>
          <a:lstStyle/>
          <a:p>
            <a:pPr algn="l" indent="0" marL="0">
              <a:lnSpc>
                <a:spcPct val="112000"/>
              </a:lnSpc>
              <a:buNone/>
            </a:pPr>
            <a:r>
              <a:rPr lang="en-US" sz="2000" dirty="0">
                <a:solidFill>
                  <a:srgbClr val="E7EAEE"/>
                </a:solidFill>
                <a:latin typeface="Inter SemiBold" pitchFamily="34" charset="0"/>
                <a:ea typeface="Inter SemiBold" pitchFamily="34" charset="-122"/>
                <a:cs typeface="Inter SemiBold" pitchFamily="34" charset="-120"/>
              </a:rPr>
              <a:t>Issuer subscription</a:t>
            </a:r>
            <a:endParaRPr lang="en-US" sz="2000" dirty="0"/>
          </a:p>
        </p:txBody>
      </p:sp>
      <p:sp>
        <p:nvSpPr>
          <p:cNvPr id="13" name="Text 11"/>
          <p:cNvSpPr txBox="1"/>
          <p:nvPr/>
        </p:nvSpPr>
        <p:spPr>
          <a:xfrm>
            <a:off x="4703978" y="3310128"/>
            <a:ext cx="2783738" cy="685800"/>
          </a:xfrm>
          <a:prstGeom prst="rect">
            <a:avLst/>
          </a:prstGeom>
          <a:noFill/>
          <a:ln/>
        </p:spPr>
        <p:txBody>
          <a:bodyPr wrap="square" lIns="0" tIns="0" rIns="0" bIns="0" rtlCol="0" anchor="t"/>
          <a:lstStyle/>
          <a:p>
            <a:pPr algn="l" indent="0" marL="0">
              <a:lnSpc>
                <a:spcPct val="115000"/>
              </a:lnSpc>
              <a:buNone/>
            </a:pPr>
            <a:r>
              <a:rPr lang="en-US" sz="1400" dirty="0">
                <a:solidFill>
                  <a:srgbClr val="9AA3AF"/>
                </a:solidFill>
                <a:latin typeface="Inter" pitchFamily="34" charset="0"/>
                <a:ea typeface="Inter" pitchFamily="34" charset="-122"/>
                <a:cs typeface="Inter" pitchFamily="34" charset="-120"/>
              </a:rPr>
              <a:t>Monitoring, Incident Room, Spec Copilot onboarding, backtests and on-call paging.</a:t>
            </a:r>
            <a:endParaRPr lang="en-US" sz="1400" dirty="0"/>
          </a:p>
        </p:txBody>
      </p:sp>
      <p:sp>
        <p:nvSpPr>
          <p:cNvPr id="14" name="Conservation Feed"/>
          <p:cNvSpPr/>
          <p:nvPr/>
        </p:nvSpPr>
        <p:spPr>
          <a:xfrm>
            <a:off x="8127797" y="1810512"/>
            <a:ext cx="3515258" cy="2423160"/>
          </a:xfrm>
          <a:prstGeom prst="roundRect">
            <a:avLst>
              <a:gd name="adj" fmla="val 5283"/>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15" name="Text 13"/>
          <p:cNvSpPr txBox="1"/>
          <p:nvPr/>
        </p:nvSpPr>
        <p:spPr>
          <a:xfrm>
            <a:off x="8493557" y="2084832"/>
            <a:ext cx="914400" cy="457200"/>
          </a:xfrm>
          <a:prstGeom prst="rect">
            <a:avLst/>
          </a:prstGeom>
          <a:noFill/>
          <a:ln/>
        </p:spPr>
        <p:txBody>
          <a:bodyPr wrap="square" lIns="0" tIns="0" rIns="0" bIns="0" rtlCol="0" anchor="ctr"/>
          <a:lstStyle/>
          <a:p>
            <a:pPr algn="l" indent="0" marL="0">
              <a:lnSpc>
                <a:spcPct val="112000"/>
              </a:lnSpc>
              <a:buNone/>
            </a:pPr>
            <a:r>
              <a:rPr lang="en-US" sz="2800" b="1" dirty="0">
                <a:solidFill>
                  <a:srgbClr val="2DD4BF"/>
                </a:solidFill>
                <a:latin typeface="JetBrains Mono" pitchFamily="34" charset="0"/>
                <a:ea typeface="JetBrains Mono" pitchFamily="34" charset="-122"/>
                <a:cs typeface="JetBrains Mono" pitchFamily="34" charset="-120"/>
              </a:rPr>
              <a:t>03</a:t>
            </a:r>
            <a:endParaRPr lang="en-US" sz="2800" dirty="0"/>
          </a:p>
        </p:txBody>
      </p:sp>
      <p:sp>
        <p:nvSpPr>
          <p:cNvPr id="16" name="Text 14"/>
          <p:cNvSpPr txBox="1"/>
          <p:nvPr/>
        </p:nvSpPr>
        <p:spPr>
          <a:xfrm>
            <a:off x="8493557" y="2651760"/>
            <a:ext cx="2783738" cy="201168"/>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9AA3AF"/>
                </a:solidFill>
                <a:latin typeface="JetBrains Mono" pitchFamily="34" charset="0"/>
                <a:ea typeface="JetBrains Mono" pitchFamily="34" charset="-122"/>
                <a:cs typeface="JetBrains Mono" pitchFamily="34" charset="-120"/>
              </a:rPr>
              <a:t>PER MARKET</a:t>
            </a:r>
            <a:endParaRPr lang="en-US" sz="1000" dirty="0"/>
          </a:p>
        </p:txBody>
      </p:sp>
      <p:sp>
        <p:nvSpPr>
          <p:cNvPr id="17" name="Text 15"/>
          <p:cNvSpPr txBox="1"/>
          <p:nvPr/>
        </p:nvSpPr>
        <p:spPr>
          <a:xfrm>
            <a:off x="8493557" y="2907792"/>
            <a:ext cx="2783738" cy="365760"/>
          </a:xfrm>
          <a:prstGeom prst="rect">
            <a:avLst/>
          </a:prstGeom>
          <a:noFill/>
          <a:ln/>
        </p:spPr>
        <p:txBody>
          <a:bodyPr wrap="square" lIns="0" tIns="0" rIns="0" bIns="0" rtlCol="0" anchor="t"/>
          <a:lstStyle/>
          <a:p>
            <a:pPr algn="l" indent="0" marL="0">
              <a:lnSpc>
                <a:spcPct val="112000"/>
              </a:lnSpc>
              <a:buNone/>
            </a:pPr>
            <a:r>
              <a:rPr lang="en-US" sz="2000" dirty="0">
                <a:solidFill>
                  <a:srgbClr val="E7EAEE"/>
                </a:solidFill>
                <a:latin typeface="Inter SemiBold" pitchFamily="34" charset="0"/>
                <a:ea typeface="Inter SemiBold" pitchFamily="34" charset="-122"/>
                <a:cs typeface="Inter SemiBold" pitchFamily="34" charset="-120"/>
              </a:rPr>
              <a:t>Conservation Feed</a:t>
            </a:r>
            <a:endParaRPr lang="en-US" sz="2000" dirty="0"/>
          </a:p>
        </p:txBody>
      </p:sp>
      <p:sp>
        <p:nvSpPr>
          <p:cNvPr id="18" name="Text 16"/>
          <p:cNvSpPr txBox="1"/>
          <p:nvPr/>
        </p:nvSpPr>
        <p:spPr>
          <a:xfrm>
            <a:off x="8493557" y="3310128"/>
            <a:ext cx="2783738" cy="685800"/>
          </a:xfrm>
          <a:prstGeom prst="rect">
            <a:avLst/>
          </a:prstGeom>
          <a:noFill/>
          <a:ln/>
        </p:spPr>
        <p:txBody>
          <a:bodyPr wrap="square" lIns="0" tIns="0" rIns="0" bIns="0" rtlCol="0" anchor="t"/>
          <a:lstStyle/>
          <a:p>
            <a:pPr algn="l" indent="0" marL="0">
              <a:lnSpc>
                <a:spcPct val="115000"/>
              </a:lnSpc>
              <a:buNone/>
            </a:pPr>
            <a:r>
              <a:rPr lang="en-US" sz="1400" dirty="0">
                <a:solidFill>
                  <a:srgbClr val="9AA3AF"/>
                </a:solidFill>
                <a:latin typeface="Inter" pitchFamily="34" charset="0"/>
                <a:ea typeface="Inter" pitchFamily="34" charset="-122"/>
                <a:cs typeface="Inter" pitchFamily="34" charset="-120"/>
              </a:rPr>
              <a:t>AggregatorV3-compatible. Free public feed, paid SLA tier for lending markets.</a:t>
            </a:r>
            <a:endParaRPr lang="en-US" sz="1400" dirty="0"/>
          </a:p>
        </p:txBody>
      </p:sp>
      <p:sp>
        <p:nvSpPr>
          <p:cNvPr id="19" name="Text 17"/>
          <p:cNvSpPr txBox="1"/>
          <p:nvPr/>
        </p:nvSpPr>
        <p:spPr>
          <a:xfrm>
            <a:off x="548640" y="4498848"/>
            <a:ext cx="3657600" cy="219456"/>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2DD4BF"/>
                </a:solidFill>
                <a:latin typeface="JetBrains Mono" pitchFamily="34" charset="0"/>
                <a:ea typeface="JetBrains Mono" pitchFamily="34" charset="-122"/>
                <a:cs typeface="JetBrains Mono" pitchFamily="34" charset="-120"/>
              </a:rPr>
              <a:t>FIRST CUSTOMERS</a:t>
            </a:r>
            <a:endParaRPr lang="en-US" sz="1000" dirty="0"/>
          </a:p>
        </p:txBody>
      </p:sp>
      <p:sp>
        <p:nvSpPr>
          <p:cNvPr id="20" name="Shape 18"/>
          <p:cNvSpPr/>
          <p:nvPr/>
        </p:nvSpPr>
        <p:spPr>
          <a:xfrm>
            <a:off x="548640" y="4846320"/>
            <a:ext cx="2368296" cy="384048"/>
          </a:xfrm>
          <a:prstGeom prst="roundRect">
            <a:avLst>
              <a:gd name="adj" fmla="val 50000"/>
            </a:avLst>
          </a:prstGeom>
          <a:solidFill>
            <a:srgbClr val="181C22"/>
          </a:solidFill>
          <a:ln w="9525">
            <a:solidFill>
              <a:srgbClr val="3A4350"/>
            </a:solidFill>
            <a:prstDash val="solid"/>
          </a:ln>
        </p:spPr>
      </p:sp>
      <p:sp>
        <p:nvSpPr>
          <p:cNvPr id="21" name="Text 19"/>
          <p:cNvSpPr txBox="1"/>
          <p:nvPr/>
        </p:nvSpPr>
        <p:spPr>
          <a:xfrm>
            <a:off x="548640" y="4846320"/>
            <a:ext cx="2368296" cy="384048"/>
          </a:xfrm>
          <a:prstGeom prst="rect">
            <a:avLst/>
          </a:prstGeom>
          <a:noFill/>
          <a:ln/>
        </p:spPr>
        <p:txBody>
          <a:bodyPr wrap="square" lIns="0" tIns="0" rIns="0" bIns="0" rtlCol="0" anchor="ctr"/>
          <a:lstStyle/>
          <a:p>
            <a:pPr algn="ctr" indent="0" marL="0">
              <a:lnSpc>
                <a:spcPct val="112000"/>
              </a:lnSpc>
              <a:buNone/>
            </a:pPr>
            <a:r>
              <a:rPr lang="en-US" sz="1400" dirty="0">
                <a:solidFill>
                  <a:srgbClr val="E7EAEE"/>
                </a:solidFill>
                <a:latin typeface="Inter" pitchFamily="34" charset="0"/>
                <a:ea typeface="Inter" pitchFamily="34" charset="-122"/>
                <a:cs typeface="Inter" pitchFamily="34" charset="-120"/>
              </a:rPr>
              <a:t>Liquid restaking (LRT)</a:t>
            </a:r>
            <a:endParaRPr lang="en-US" sz="1400" dirty="0"/>
          </a:p>
        </p:txBody>
      </p:sp>
      <p:sp>
        <p:nvSpPr>
          <p:cNvPr id="22" name="Shape 20"/>
          <p:cNvSpPr/>
          <p:nvPr/>
        </p:nvSpPr>
        <p:spPr>
          <a:xfrm>
            <a:off x="3063240" y="4846320"/>
            <a:ext cx="2194560" cy="384048"/>
          </a:xfrm>
          <a:prstGeom prst="roundRect">
            <a:avLst>
              <a:gd name="adj" fmla="val 50000"/>
            </a:avLst>
          </a:prstGeom>
          <a:solidFill>
            <a:srgbClr val="181C22"/>
          </a:solidFill>
          <a:ln w="9525">
            <a:solidFill>
              <a:srgbClr val="3A4350"/>
            </a:solidFill>
            <a:prstDash val="solid"/>
          </a:ln>
        </p:spPr>
      </p:sp>
      <p:sp>
        <p:nvSpPr>
          <p:cNvPr id="23" name="Text 21"/>
          <p:cNvSpPr txBox="1"/>
          <p:nvPr/>
        </p:nvSpPr>
        <p:spPr>
          <a:xfrm>
            <a:off x="3063240" y="4846320"/>
            <a:ext cx="2194560" cy="384048"/>
          </a:xfrm>
          <a:prstGeom prst="rect">
            <a:avLst/>
          </a:prstGeom>
          <a:noFill/>
          <a:ln/>
        </p:spPr>
        <p:txBody>
          <a:bodyPr wrap="square" lIns="0" tIns="0" rIns="0" bIns="0" rtlCol="0" anchor="ctr"/>
          <a:lstStyle/>
          <a:p>
            <a:pPr algn="ctr" indent="0" marL="0">
              <a:lnSpc>
                <a:spcPct val="112000"/>
              </a:lnSpc>
              <a:buNone/>
            </a:pPr>
            <a:r>
              <a:rPr lang="en-US" sz="1400" dirty="0">
                <a:solidFill>
                  <a:srgbClr val="E7EAEE"/>
                </a:solidFill>
                <a:latin typeface="Inter" pitchFamily="34" charset="0"/>
                <a:ea typeface="Inter" pitchFamily="34" charset="-122"/>
                <a:cs typeface="Inter" pitchFamily="34" charset="-120"/>
              </a:rPr>
              <a:t>Liquid staking (LST)</a:t>
            </a:r>
            <a:endParaRPr lang="en-US" sz="1400" dirty="0"/>
          </a:p>
        </p:txBody>
      </p:sp>
      <p:sp>
        <p:nvSpPr>
          <p:cNvPr id="24" name="Shape 22"/>
          <p:cNvSpPr/>
          <p:nvPr/>
        </p:nvSpPr>
        <p:spPr>
          <a:xfrm>
            <a:off x="5404104" y="4846320"/>
            <a:ext cx="1412748" cy="384048"/>
          </a:xfrm>
          <a:prstGeom prst="roundRect">
            <a:avLst>
              <a:gd name="adj" fmla="val 50000"/>
            </a:avLst>
          </a:prstGeom>
          <a:solidFill>
            <a:srgbClr val="181C22"/>
          </a:solidFill>
          <a:ln w="9525">
            <a:solidFill>
              <a:srgbClr val="3A4350"/>
            </a:solidFill>
            <a:prstDash val="solid"/>
          </a:ln>
        </p:spPr>
      </p:sp>
      <p:sp>
        <p:nvSpPr>
          <p:cNvPr id="25" name="Text 23"/>
          <p:cNvSpPr txBox="1"/>
          <p:nvPr/>
        </p:nvSpPr>
        <p:spPr>
          <a:xfrm>
            <a:off x="5404104" y="4846320"/>
            <a:ext cx="1412748" cy="384048"/>
          </a:xfrm>
          <a:prstGeom prst="rect">
            <a:avLst/>
          </a:prstGeom>
          <a:noFill/>
          <a:ln/>
        </p:spPr>
        <p:txBody>
          <a:bodyPr wrap="square" lIns="0" tIns="0" rIns="0" bIns="0" rtlCol="0" anchor="ctr"/>
          <a:lstStyle/>
          <a:p>
            <a:pPr algn="ctr" indent="0" marL="0">
              <a:lnSpc>
                <a:spcPct val="112000"/>
              </a:lnSpc>
              <a:buNone/>
            </a:pPr>
            <a:r>
              <a:rPr lang="en-US" sz="1400" dirty="0">
                <a:solidFill>
                  <a:srgbClr val="E7EAEE"/>
                </a:solidFill>
                <a:latin typeface="Inter" pitchFamily="34" charset="0"/>
                <a:ea typeface="Inter" pitchFamily="34" charset="-122"/>
                <a:cs typeface="Inter" pitchFamily="34" charset="-120"/>
              </a:rPr>
              <a:t>Wrapped BTC</a:t>
            </a:r>
            <a:endParaRPr lang="en-US" sz="1400" dirty="0"/>
          </a:p>
        </p:txBody>
      </p:sp>
      <p:sp>
        <p:nvSpPr>
          <p:cNvPr id="26" name="Text 24"/>
          <p:cNvSpPr txBox="1"/>
          <p:nvPr/>
        </p:nvSpPr>
        <p:spPr>
          <a:xfrm>
            <a:off x="548640" y="5394960"/>
            <a:ext cx="6035040" cy="457200"/>
          </a:xfrm>
          <a:prstGeom prst="rect">
            <a:avLst/>
          </a:prstGeom>
          <a:noFill/>
          <a:ln/>
        </p:spPr>
        <p:txBody>
          <a:bodyPr wrap="square" lIns="0" tIns="0" rIns="0" bIns="0" rtlCol="0" anchor="t"/>
          <a:lstStyle/>
          <a:p>
            <a:pPr algn="l" indent="0" marL="0">
              <a:lnSpc>
                <a:spcPct val="115000"/>
              </a:lnSpc>
              <a:buNone/>
            </a:pPr>
            <a:r>
              <a:rPr lang="en-US" sz="1400" dirty="0">
                <a:solidFill>
                  <a:srgbClr val="9AA3AF"/>
                </a:solidFill>
                <a:latin typeface="Inter" pitchFamily="34" charset="0"/>
                <a:ea typeface="Inter" pitchFamily="34" charset="-122"/>
                <a:cs typeface="Inter" pitchFamily="34" charset="-120"/>
              </a:rPr>
              <a:t>Tokens that cross many chains and bridges. Kelp said in May it was moving rsETH to CCIP.</a:t>
            </a:r>
            <a:endParaRPr lang="en-US" sz="1400" dirty="0"/>
          </a:p>
        </p:txBody>
      </p:sp>
      <p:sp>
        <p:nvSpPr>
          <p:cNvPr id="27" name="Text 25"/>
          <p:cNvSpPr txBox="1"/>
          <p:nvPr/>
        </p:nvSpPr>
        <p:spPr>
          <a:xfrm>
            <a:off x="7086600" y="4498848"/>
            <a:ext cx="4556455" cy="219456"/>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2DD4BF"/>
                </a:solidFill>
                <a:latin typeface="JetBrains Mono" pitchFamily="34" charset="0"/>
                <a:ea typeface="JetBrains Mono" pitchFamily="34" charset="-122"/>
                <a:cs typeface="JetBrains Mono" pitchFamily="34" charset="-120"/>
              </a:rPr>
              <a:t>WEDGE</a:t>
            </a:r>
            <a:endParaRPr lang="en-US" sz="1000" dirty="0"/>
          </a:p>
        </p:txBody>
      </p:sp>
      <p:sp>
        <p:nvSpPr>
          <p:cNvPr id="28" name="Text 26"/>
          <p:cNvSpPr txBox="1"/>
          <p:nvPr/>
        </p:nvSpPr>
        <p:spPr>
          <a:xfrm>
            <a:off x="7086600" y="4828032"/>
            <a:ext cx="4556455" cy="640080"/>
          </a:xfrm>
          <a:prstGeom prst="rect">
            <a:avLst/>
          </a:prstGeom>
          <a:noFill/>
          <a:ln/>
        </p:spPr>
        <p:txBody>
          <a:bodyPr wrap="square" lIns="0" tIns="0" rIns="0" bIns="0" rtlCol="0" anchor="t"/>
          <a:lstStyle/>
          <a:p>
            <a:pPr algn="l" indent="0" marL="0">
              <a:lnSpc>
                <a:spcPct val="115000"/>
              </a:lnSpc>
              <a:buNone/>
            </a:pPr>
            <a:r>
              <a:rPr lang="en-US" sz="1600" dirty="0">
                <a:solidFill>
                  <a:srgbClr val="E7EAEE"/>
                </a:solidFill>
                <a:latin typeface="Inter SemiBold" pitchFamily="34" charset="0"/>
                <a:ea typeface="Inter SemiBold" pitchFamily="34" charset="-122"/>
                <a:cs typeface="Inter SemiBold" pitchFamily="34" charset="-120"/>
              </a:rPr>
              <a:t>Free shadow mode and a public status page. Holders ask why their token is not on it.</a:t>
            </a:r>
            <a:endParaRPr lang="en-US" sz="1600" dirty="0"/>
          </a:p>
        </p:txBody>
      </p:sp>
      <p:sp>
        <p:nvSpPr>
          <p:cNvPr id="29" name="Text 27"/>
          <p:cNvSpPr txBox="1"/>
          <p:nvPr/>
        </p:nvSpPr>
        <p:spPr>
          <a:xfrm>
            <a:off x="7086600" y="5596128"/>
            <a:ext cx="4556455" cy="237744"/>
          </a:xfrm>
          <a:prstGeom prst="rect">
            <a:avLst/>
          </a:prstGeom>
          <a:noFill/>
          <a:ln/>
        </p:spPr>
        <p:txBody>
          <a:bodyPr wrap="square" lIns="0" tIns="0" rIns="0" bIns="0" rtlCol="0" anchor="t"/>
          <a:lstStyle/>
          <a:p>
            <a:pPr algn="l" indent="0" marL="0">
              <a:lnSpc>
                <a:spcPct val="112000"/>
              </a:lnSpc>
              <a:buNone/>
            </a:pPr>
            <a:r>
              <a:rPr lang="en-US" sz="1200" dirty="0">
                <a:solidFill>
                  <a:srgbClr val="7D8693"/>
                </a:solidFill>
                <a:latin typeface="Inter" pitchFamily="34" charset="0"/>
                <a:ea typeface="Inter" pitchFamily="34" charset="-122"/>
                <a:cs typeface="Inter" pitchFamily="34" charset="-120"/>
              </a:rPr>
              <a:t>Pricing is a hypothesis to validate with design partners.</a:t>
            </a:r>
            <a:endParaRPr lang="en-US" sz="1200" dirty="0"/>
          </a:p>
        </p:txBody>
      </p:sp>
      <p:sp>
        <p:nvSpPr>
          <p:cNvPr id="30" name="Text 28"/>
          <p:cNvSpPr txBox="1"/>
          <p:nvPr/>
        </p:nvSpPr>
        <p:spPr>
          <a:xfrm>
            <a:off x="548640" y="5998464"/>
            <a:ext cx="11094415" cy="219456"/>
          </a:xfrm>
          <a:prstGeom prst="rect">
            <a:avLst/>
          </a:prstGeom>
          <a:noFill/>
          <a:ln/>
        </p:spPr>
        <p:txBody>
          <a:bodyPr wrap="square" lIns="0" tIns="0" rIns="0" bIns="0" rtlCol="0" anchor="t"/>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Sources: Chainlink, Introducing CCIP 2.0 (verifier fees)  ·  Unchained (Kelp moving rsETH to CCIP)</a:t>
            </a:r>
            <a:endParaRPr lang="en-US" sz="1000" dirty="0"/>
          </a:p>
        </p:txBody>
      </p:sp>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475488"/>
            <a:ext cx="8229600" cy="237744"/>
          </a:xfrm>
          <a:prstGeom prst="rect">
            <a:avLst/>
          </a:prstGeom>
          <a:noFill/>
          <a:ln/>
        </p:spPr>
        <p:txBody>
          <a:bodyPr wrap="square" lIns="0" tIns="0" rIns="0" bIns="0" rtlCol="0" anchor="ctr"/>
          <a:lstStyle/>
          <a:p>
            <a:pPr algn="l" indent="0" marL="0">
              <a:lnSpc>
                <a:spcPct val="112000"/>
              </a:lnSpc>
              <a:buNone/>
            </a:pPr>
            <a:r>
              <a:rPr lang="en-US" sz="1100" b="1" spc="300" kern="0" dirty="0">
                <a:solidFill>
                  <a:srgbClr val="2DD4BF"/>
                </a:solidFill>
                <a:latin typeface="JetBrains Mono" pitchFamily="34" charset="0"/>
                <a:ea typeface="JetBrains Mono" pitchFamily="34" charset="-122"/>
                <a:cs typeface="JetBrains Mono" pitchFamily="34" charset="-120"/>
              </a:rPr>
              <a:t>LIMITS AND ROADMAP</a:t>
            </a:r>
            <a:endParaRPr lang="en-US" sz="1100" dirty="0"/>
          </a:p>
        </p:txBody>
      </p:sp>
      <p:sp>
        <p:nvSpPr>
          <p:cNvPr id="3" name="Text 0"/>
          <p:cNvSpPr/>
          <p:nvPr>
            <p:ph idx="100" type="title" hasCustomPrompt="1"/>
          </p:nvPr>
        </p:nvSpPr>
        <p:spPr>
          <a:xfrm>
            <a:off x="548640" y="768096"/>
            <a:ext cx="11094415" cy="713232"/>
          </a:xfrm>
          <a:prstGeom prst="rect">
            <a:avLst/>
          </a:prstGeom>
          <a:noFill/>
          <a:ln/>
        </p:spPr>
        <p:txBody>
          <a:bodyPr wrap="square" lIns="0" tIns="0" rIns="0" bIns="0" rtlCol="0" anchor="t"/>
          <a:lstStyle/>
          <a:p>
            <a:pPr algn="l" indent="0" marL="0">
              <a:buNone/>
            </a:pPr>
            <a:r>
              <a:rPr lang="en-US" sz="3600" spc="-50" kern="0" dirty="0">
                <a:solidFill>
                  <a:srgbClr val="E7EAEE"/>
                </a:solidFill>
                <a:latin typeface="Inter SemiBold" pitchFamily="34" charset="0"/>
                <a:ea typeface="Inter SemiBold" pitchFamily="34" charset="-122"/>
                <a:cs typeface="Inter SemiBold" pitchFamily="34" charset="-120"/>
              </a:rPr>
              <a:t>What we do not catch, and what ships next</a:t>
            </a:r>
            <a:endParaRPr lang="en-US" sz="3600" dirty="0"/>
          </a:p>
        </p:txBody>
      </p:sp>
      <p:sp>
        <p:nvSpPr>
          <p:cNvPr id="4" name="Limits"/>
          <p:cNvSpPr/>
          <p:nvPr/>
        </p:nvSpPr>
        <p:spPr>
          <a:xfrm>
            <a:off x="548640" y="1810512"/>
            <a:ext cx="4160520" cy="2468880"/>
          </a:xfrm>
          <a:prstGeom prst="roundRect">
            <a:avLst>
              <a:gd name="adj" fmla="val 5185"/>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5" name="Text 3"/>
          <p:cNvSpPr txBox="1"/>
          <p:nvPr/>
        </p:nvSpPr>
        <p:spPr>
          <a:xfrm>
            <a:off x="868680" y="2084832"/>
            <a:ext cx="3520440" cy="201168"/>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F43F5E"/>
                </a:solidFill>
                <a:latin typeface="JetBrains Mono" pitchFamily="34" charset="0"/>
                <a:ea typeface="JetBrains Mono" pitchFamily="34" charset="-122"/>
                <a:cs typeface="JetBrains Mono" pitchFamily="34" charset="-120"/>
              </a:rPr>
              <a:t>WE DO NOT PROTECT AGAINST</a:t>
            </a:r>
            <a:endParaRPr lang="en-US" sz="1000" dirty="0"/>
          </a:p>
        </p:txBody>
      </p:sp>
      <p:sp>
        <p:nvSpPr>
          <p:cNvPr id="6" name="Shape 4"/>
          <p:cNvSpPr/>
          <p:nvPr/>
        </p:nvSpPr>
        <p:spPr>
          <a:xfrm>
            <a:off x="886968" y="2505456"/>
            <a:ext cx="91440" cy="91440"/>
          </a:xfrm>
          <a:prstGeom prst="ellipse">
            <a:avLst/>
          </a:prstGeom>
          <a:solidFill>
            <a:srgbClr val="F43F5E"/>
          </a:solidFill>
          <a:ln/>
        </p:spPr>
      </p:sp>
      <p:sp>
        <p:nvSpPr>
          <p:cNvPr id="7" name="Text 5"/>
          <p:cNvSpPr txBox="1"/>
          <p:nvPr/>
        </p:nvSpPr>
        <p:spPr>
          <a:xfrm>
            <a:off x="1115568" y="2432304"/>
            <a:ext cx="3273552" cy="512064"/>
          </a:xfrm>
          <a:prstGeom prst="rect">
            <a:avLst/>
          </a:prstGeom>
          <a:noFill/>
          <a:ln/>
        </p:spPr>
        <p:txBody>
          <a:bodyPr wrap="square" lIns="0" tIns="0" rIns="0" bIns="0" rtlCol="0" anchor="t"/>
          <a:lstStyle/>
          <a:p>
            <a:pPr algn="l" indent="0" marL="0">
              <a:lnSpc>
                <a:spcPct val="112000"/>
              </a:lnSpc>
              <a:buNone/>
            </a:pPr>
            <a:r>
              <a:rPr lang="en-US" sz="1400" dirty="0">
                <a:solidFill>
                  <a:srgbClr val="E7EAEE"/>
                </a:solidFill>
                <a:latin typeface="Inter" pitchFamily="34" charset="0"/>
                <a:ea typeface="Inter" pitchFamily="34" charset="-122"/>
                <a:cs typeface="Inter" pitchFamily="34" charset="-120"/>
              </a:rPr>
              <a:t>Theft that keeps supply conserved, like a drained admin vault</a:t>
            </a:r>
            <a:endParaRPr lang="en-US" sz="1400" dirty="0"/>
          </a:p>
        </p:txBody>
      </p:sp>
      <p:sp>
        <p:nvSpPr>
          <p:cNvPr id="8" name="Shape 6"/>
          <p:cNvSpPr/>
          <p:nvPr/>
        </p:nvSpPr>
        <p:spPr>
          <a:xfrm>
            <a:off x="886968" y="3090672"/>
            <a:ext cx="91440" cy="91440"/>
          </a:xfrm>
          <a:prstGeom prst="ellipse">
            <a:avLst/>
          </a:prstGeom>
          <a:solidFill>
            <a:srgbClr val="F43F5E"/>
          </a:solidFill>
          <a:ln/>
        </p:spPr>
      </p:sp>
      <p:sp>
        <p:nvSpPr>
          <p:cNvPr id="9" name="Text 7"/>
          <p:cNvSpPr txBox="1"/>
          <p:nvPr/>
        </p:nvSpPr>
        <p:spPr>
          <a:xfrm>
            <a:off x="1115568" y="3017520"/>
            <a:ext cx="3273552" cy="512064"/>
          </a:xfrm>
          <a:prstGeom prst="rect">
            <a:avLst/>
          </a:prstGeom>
          <a:noFill/>
          <a:ln/>
        </p:spPr>
        <p:txBody>
          <a:bodyPr wrap="square" lIns="0" tIns="0" rIns="0" bIns="0" rtlCol="0" anchor="t"/>
          <a:lstStyle/>
          <a:p>
            <a:pPr algn="l" indent="0" marL="0">
              <a:lnSpc>
                <a:spcPct val="112000"/>
              </a:lnSpc>
              <a:buNone/>
            </a:pPr>
            <a:r>
              <a:rPr lang="en-US" sz="1400" dirty="0">
                <a:solidFill>
                  <a:srgbClr val="E7EAEE"/>
                </a:solidFill>
                <a:latin typeface="Inter" pitchFamily="34" charset="0"/>
                <a:ea typeface="Inter" pitchFamily="34" charset="-122"/>
                <a:cs typeface="Inter" pitchFamily="34" charset="-120"/>
              </a:rPr>
              <a:t>DEX price manipulation, phishing, lending bugs</a:t>
            </a:r>
            <a:endParaRPr lang="en-US" sz="1400" dirty="0"/>
          </a:p>
        </p:txBody>
      </p:sp>
      <p:sp>
        <p:nvSpPr>
          <p:cNvPr id="10" name="Shape 8"/>
          <p:cNvSpPr/>
          <p:nvPr/>
        </p:nvSpPr>
        <p:spPr>
          <a:xfrm>
            <a:off x="886968" y="3675888"/>
            <a:ext cx="91440" cy="91440"/>
          </a:xfrm>
          <a:prstGeom prst="ellipse">
            <a:avLst/>
          </a:prstGeom>
          <a:solidFill>
            <a:srgbClr val="F43F5E"/>
          </a:solidFill>
          <a:ln/>
        </p:spPr>
      </p:sp>
      <p:sp>
        <p:nvSpPr>
          <p:cNvPr id="11" name="Text 9"/>
          <p:cNvSpPr txBox="1"/>
          <p:nvPr/>
        </p:nvSpPr>
        <p:spPr>
          <a:xfrm>
            <a:off x="1115568" y="3602736"/>
            <a:ext cx="3273552" cy="512064"/>
          </a:xfrm>
          <a:prstGeom prst="rect">
            <a:avLst/>
          </a:prstGeom>
          <a:noFill/>
          <a:ln/>
        </p:spPr>
        <p:txBody>
          <a:bodyPr wrap="square" lIns="0" tIns="0" rIns="0" bIns="0" rtlCol="0" anchor="t"/>
          <a:lstStyle/>
          <a:p>
            <a:pPr algn="l" indent="0" marL="0">
              <a:lnSpc>
                <a:spcPct val="112000"/>
              </a:lnSpc>
              <a:buNone/>
            </a:pPr>
            <a:r>
              <a:rPr lang="en-US" sz="1400" dirty="0">
                <a:solidFill>
                  <a:srgbClr val="E7EAEE"/>
                </a:solidFill>
                <a:latin typeface="Inter" pitchFamily="34" charset="0"/>
                <a:ea typeface="Inter" pitchFamily="34" charset="-122"/>
                <a:cs typeface="Inter" pitchFamily="34" charset="-120"/>
              </a:rPr>
              <a:t>Same-block swaps after a forged release, without KirchhoffGuard</a:t>
            </a:r>
            <a:endParaRPr lang="en-US" sz="1400" dirty="0"/>
          </a:p>
        </p:txBody>
      </p:sp>
      <p:sp>
        <p:nvSpPr>
          <p:cNvPr id="12" name="Roadmap"/>
          <p:cNvSpPr/>
          <p:nvPr/>
        </p:nvSpPr>
        <p:spPr>
          <a:xfrm>
            <a:off x="4983480" y="1810512"/>
            <a:ext cx="6659575" cy="2468880"/>
          </a:xfrm>
          <a:prstGeom prst="roundRect">
            <a:avLst>
              <a:gd name="adj" fmla="val 5185"/>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13" name="Text 11"/>
          <p:cNvSpPr txBox="1"/>
          <p:nvPr/>
        </p:nvSpPr>
        <p:spPr>
          <a:xfrm>
            <a:off x="5303520" y="2084832"/>
            <a:ext cx="1828800" cy="201168"/>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2DD4BF"/>
                </a:solidFill>
                <a:latin typeface="JetBrains Mono" pitchFamily="34" charset="0"/>
                <a:ea typeface="JetBrains Mono" pitchFamily="34" charset="-122"/>
                <a:cs typeface="JetBrains Mono" pitchFamily="34" charset="-120"/>
              </a:rPr>
              <a:t>ROADMAP</a:t>
            </a:r>
            <a:endParaRPr lang="en-US" sz="1000" dirty="0"/>
          </a:p>
        </p:txBody>
      </p:sp>
      <p:sp>
        <p:nvSpPr>
          <p:cNvPr id="14" name="Shape 12"/>
          <p:cNvSpPr/>
          <p:nvPr/>
        </p:nvSpPr>
        <p:spPr>
          <a:xfrm>
            <a:off x="5832318" y="2852928"/>
            <a:ext cx="1240475" cy="91"/>
          </a:xfrm>
          <a:prstGeom prst="line">
            <a:avLst/>
          </a:prstGeom>
          <a:noFill/>
          <a:ln w="25400">
            <a:solidFill>
              <a:srgbClr val="2DD4BF"/>
            </a:solidFill>
            <a:prstDash val="solid"/>
          </a:ln>
        </p:spPr>
      </p:sp>
      <p:sp>
        <p:nvSpPr>
          <p:cNvPr id="15" name="Shape 13"/>
          <p:cNvSpPr/>
          <p:nvPr/>
        </p:nvSpPr>
        <p:spPr>
          <a:xfrm>
            <a:off x="7072793" y="2852928"/>
            <a:ext cx="3721425" cy="91"/>
          </a:xfrm>
          <a:prstGeom prst="line">
            <a:avLst/>
          </a:prstGeom>
          <a:noFill/>
          <a:ln w="19050">
            <a:solidFill>
              <a:srgbClr val="3A4350"/>
            </a:solidFill>
            <a:prstDash val="solid"/>
          </a:ln>
        </p:spPr>
      </p:sp>
      <p:sp>
        <p:nvSpPr>
          <p:cNvPr id="16" name="Shape 14"/>
          <p:cNvSpPr/>
          <p:nvPr/>
        </p:nvSpPr>
        <p:spPr>
          <a:xfrm>
            <a:off x="5285232" y="2377440"/>
            <a:ext cx="2334646" cy="1764792"/>
          </a:xfrm>
          <a:prstGeom prst="roundRect">
            <a:avLst>
              <a:gd name="adj" fmla="val 6218"/>
            </a:avLst>
          </a:prstGeom>
          <a:solidFill>
            <a:srgbClr val="0F2A28">
              <a:alpha val="65000"/>
            </a:srgbClr>
          </a:solidFill>
          <a:ln w="9525">
            <a:solidFill>
              <a:srgbClr val="1C5F57"/>
            </a:solidFill>
            <a:prstDash val="solid"/>
          </a:ln>
        </p:spPr>
      </p:sp>
      <p:sp>
        <p:nvSpPr>
          <p:cNvPr id="17" name="Text 15"/>
          <p:cNvSpPr txBox="1"/>
          <p:nvPr/>
        </p:nvSpPr>
        <p:spPr>
          <a:xfrm>
            <a:off x="5285232" y="2450592"/>
            <a:ext cx="2334646" cy="201168"/>
          </a:xfrm>
          <a:prstGeom prst="rect">
            <a:avLst/>
          </a:prstGeom>
          <a:noFill/>
          <a:ln/>
        </p:spPr>
        <p:txBody>
          <a:bodyPr wrap="square" lIns="0" tIns="0" rIns="0" bIns="0" rtlCol="0" anchor="t"/>
          <a:lstStyle/>
          <a:p>
            <a:pPr algn="ctr" indent="0" marL="0">
              <a:lnSpc>
                <a:spcPct val="112000"/>
              </a:lnSpc>
              <a:buNone/>
            </a:pPr>
            <a:r>
              <a:rPr lang="en-US" sz="1000" b="1" spc="200" kern="0" dirty="0">
                <a:solidFill>
                  <a:srgbClr val="2DD4BF"/>
                </a:solidFill>
                <a:latin typeface="JetBrains Mono" pitchFamily="34" charset="0"/>
                <a:ea typeface="JetBrains Mono" pitchFamily="34" charset="-122"/>
                <a:cs typeface="JetBrains Mono" pitchFamily="34" charset="-120"/>
              </a:rPr>
              <a:t>NEXT 90 DAYS</a:t>
            </a:r>
            <a:endParaRPr lang="en-US" sz="1000" dirty="0"/>
          </a:p>
        </p:txBody>
      </p:sp>
      <p:sp>
        <p:nvSpPr>
          <p:cNvPr id="18" name="Shape 16"/>
          <p:cNvSpPr/>
          <p:nvPr/>
        </p:nvSpPr>
        <p:spPr>
          <a:xfrm>
            <a:off x="5731734" y="2752344"/>
            <a:ext cx="201168" cy="201168"/>
          </a:xfrm>
          <a:prstGeom prst="ellipse">
            <a:avLst/>
          </a:prstGeom>
          <a:solidFill>
            <a:srgbClr val="2DD4BF"/>
          </a:solidFill>
          <a:ln/>
        </p:spPr>
      </p:sp>
      <p:sp>
        <p:nvSpPr>
          <p:cNvPr id="19" name="Text 17"/>
          <p:cNvSpPr txBox="1"/>
          <p:nvPr/>
        </p:nvSpPr>
        <p:spPr>
          <a:xfrm>
            <a:off x="5266944" y="3090672"/>
            <a:ext cx="1130747" cy="274320"/>
          </a:xfrm>
          <a:prstGeom prst="rect">
            <a:avLst/>
          </a:prstGeom>
          <a:noFill/>
          <a:ln/>
        </p:spPr>
        <p:txBody>
          <a:bodyPr wrap="square" lIns="0" tIns="0" rIns="0" bIns="0" rtlCol="0" anchor="t"/>
          <a:lstStyle/>
          <a:p>
            <a:pPr algn="ctr" indent="0" marL="0">
              <a:lnSpc>
                <a:spcPct val="112000"/>
              </a:lnSpc>
              <a:buNone/>
            </a:pPr>
            <a:r>
              <a:rPr lang="en-US" sz="1500" dirty="0">
                <a:solidFill>
                  <a:srgbClr val="E7EAEE"/>
                </a:solidFill>
                <a:latin typeface="Inter SemiBold" pitchFamily="34" charset="0"/>
                <a:ea typeface="Inter SemiBold" pitchFamily="34" charset="-122"/>
                <a:cs typeface="Inter SemiBold" pitchFamily="34" charset="-120"/>
              </a:rPr>
              <a:t>Harden</a:t>
            </a:r>
            <a:endParaRPr lang="en-US" sz="1500" dirty="0"/>
          </a:p>
        </p:txBody>
      </p:sp>
      <p:sp>
        <p:nvSpPr>
          <p:cNvPr id="20" name="Text 18"/>
          <p:cNvSpPr txBox="1"/>
          <p:nvPr/>
        </p:nvSpPr>
        <p:spPr>
          <a:xfrm>
            <a:off x="5266944" y="3383280"/>
            <a:ext cx="1130747" cy="201168"/>
          </a:xfrm>
          <a:prstGeom prst="rect">
            <a:avLst/>
          </a:prstGeom>
          <a:noFill/>
          <a:ln/>
        </p:spPr>
        <p:txBody>
          <a:bodyPr wrap="square" lIns="0" tIns="0" rIns="0" bIns="0" rtlCol="0" anchor="t"/>
          <a:lstStyle/>
          <a:p>
            <a:pPr algn="ctr" indent="0" marL="0">
              <a:lnSpc>
                <a:spcPct val="112000"/>
              </a:lnSpc>
              <a:buNone/>
            </a:pPr>
            <a:r>
              <a:rPr lang="en-US" sz="1000" dirty="0">
                <a:solidFill>
                  <a:srgbClr val="2DD4BF"/>
                </a:solidFill>
                <a:latin typeface="JetBrains Mono" pitchFamily="34" charset="0"/>
                <a:ea typeface="JetBrains Mono" pitchFamily="34" charset="-122"/>
                <a:cs typeface="JetBrains Mono" pitchFamily="34" charset="-120"/>
              </a:rPr>
              <a:t>WEEKS 1 TO 4</a:t>
            </a:r>
            <a:endParaRPr lang="en-US" sz="1000" dirty="0"/>
          </a:p>
        </p:txBody>
      </p:sp>
      <p:sp>
        <p:nvSpPr>
          <p:cNvPr id="21" name="Text 19"/>
          <p:cNvSpPr txBox="1"/>
          <p:nvPr/>
        </p:nvSpPr>
        <p:spPr>
          <a:xfrm>
            <a:off x="5266944" y="3621024"/>
            <a:ext cx="1130747" cy="475488"/>
          </a:xfrm>
          <a:prstGeom prst="rect">
            <a:avLst/>
          </a:prstGeom>
          <a:noFill/>
          <a:ln/>
        </p:spPr>
        <p:txBody>
          <a:bodyPr wrap="square" lIns="0" tIns="0" rIns="0" bIns="0" rtlCol="0" anchor="t"/>
          <a:lstStyle/>
          <a:p>
            <a:pPr algn="ctr" indent="0" marL="0">
              <a:lnSpc>
                <a:spcPct val="108000"/>
              </a:lnSpc>
              <a:buNone/>
            </a:pPr>
            <a:r>
              <a:rPr lang="en-US" sz="1100" dirty="0">
                <a:solidFill>
                  <a:srgbClr val="9AA3AF"/>
                </a:solidFill>
                <a:latin typeface="Inter" pitchFamily="34" charset="0"/>
                <a:ea typeface="Inter" pitchFamily="34" charset="-122"/>
                <a:cs typeface="Inter" pitchFamily="34" charset="-120"/>
              </a:rPr>
              <a:t>Audit booked, 2 design partners</a:t>
            </a:r>
            <a:endParaRPr lang="en-US" sz="1100" dirty="0"/>
          </a:p>
        </p:txBody>
      </p:sp>
      <p:sp>
        <p:nvSpPr>
          <p:cNvPr id="22" name="Shape 20"/>
          <p:cNvSpPr/>
          <p:nvPr/>
        </p:nvSpPr>
        <p:spPr>
          <a:xfrm>
            <a:off x="6972209" y="2752344"/>
            <a:ext cx="201168" cy="201168"/>
          </a:xfrm>
          <a:prstGeom prst="ellipse">
            <a:avLst/>
          </a:prstGeom>
          <a:solidFill>
            <a:srgbClr val="2DD4BF"/>
          </a:solidFill>
          <a:ln/>
        </p:spPr>
      </p:sp>
      <p:sp>
        <p:nvSpPr>
          <p:cNvPr id="23" name="Text 21"/>
          <p:cNvSpPr txBox="1"/>
          <p:nvPr/>
        </p:nvSpPr>
        <p:spPr>
          <a:xfrm>
            <a:off x="6507419" y="3090672"/>
            <a:ext cx="1130747" cy="274320"/>
          </a:xfrm>
          <a:prstGeom prst="rect">
            <a:avLst/>
          </a:prstGeom>
          <a:noFill/>
          <a:ln/>
        </p:spPr>
        <p:txBody>
          <a:bodyPr wrap="square" lIns="0" tIns="0" rIns="0" bIns="0" rtlCol="0" anchor="t"/>
          <a:lstStyle/>
          <a:p>
            <a:pPr algn="ctr" indent="0" marL="0">
              <a:lnSpc>
                <a:spcPct val="112000"/>
              </a:lnSpc>
              <a:buNone/>
            </a:pPr>
            <a:r>
              <a:rPr lang="en-US" sz="1500" dirty="0">
                <a:solidFill>
                  <a:srgbClr val="E7EAEE"/>
                </a:solidFill>
                <a:latin typeface="Inter SemiBold" pitchFamily="34" charset="0"/>
                <a:ea typeface="Inter SemiBold" pitchFamily="34" charset="-122"/>
                <a:cs typeface="Inter SemiBold" pitchFamily="34" charset="-120"/>
              </a:rPr>
              <a:t>Shadow</a:t>
            </a:r>
            <a:endParaRPr lang="en-US" sz="1500" dirty="0"/>
          </a:p>
        </p:txBody>
      </p:sp>
      <p:sp>
        <p:nvSpPr>
          <p:cNvPr id="24" name="Text 22"/>
          <p:cNvSpPr txBox="1"/>
          <p:nvPr/>
        </p:nvSpPr>
        <p:spPr>
          <a:xfrm>
            <a:off x="6507419" y="3383280"/>
            <a:ext cx="1130747" cy="201168"/>
          </a:xfrm>
          <a:prstGeom prst="rect">
            <a:avLst/>
          </a:prstGeom>
          <a:noFill/>
          <a:ln/>
        </p:spPr>
        <p:txBody>
          <a:bodyPr wrap="square" lIns="0" tIns="0" rIns="0" bIns="0" rtlCol="0" anchor="t"/>
          <a:lstStyle/>
          <a:p>
            <a:pPr algn="ctr" indent="0" marL="0">
              <a:lnSpc>
                <a:spcPct val="112000"/>
              </a:lnSpc>
              <a:buNone/>
            </a:pPr>
            <a:r>
              <a:rPr lang="en-US" sz="1000" dirty="0">
                <a:solidFill>
                  <a:srgbClr val="2DD4BF"/>
                </a:solidFill>
                <a:latin typeface="JetBrains Mono" pitchFamily="34" charset="0"/>
                <a:ea typeface="JetBrains Mono" pitchFamily="34" charset="-122"/>
                <a:cs typeface="JetBrains Mono" pitchFamily="34" charset="-120"/>
              </a:rPr>
              <a:t>MONTHS 2 TO 3</a:t>
            </a:r>
            <a:endParaRPr lang="en-US" sz="1000" dirty="0"/>
          </a:p>
        </p:txBody>
      </p:sp>
      <p:sp>
        <p:nvSpPr>
          <p:cNvPr id="25" name="Text 23"/>
          <p:cNvSpPr txBox="1"/>
          <p:nvPr/>
        </p:nvSpPr>
        <p:spPr>
          <a:xfrm>
            <a:off x="6507419" y="3621024"/>
            <a:ext cx="1130747" cy="475488"/>
          </a:xfrm>
          <a:prstGeom prst="rect">
            <a:avLst/>
          </a:prstGeom>
          <a:noFill/>
          <a:ln/>
        </p:spPr>
        <p:txBody>
          <a:bodyPr wrap="square" lIns="0" tIns="0" rIns="0" bIns="0" rtlCol="0" anchor="t"/>
          <a:lstStyle/>
          <a:p>
            <a:pPr algn="ctr" indent="0" marL="0">
              <a:lnSpc>
                <a:spcPct val="108000"/>
              </a:lnSpc>
              <a:buNone/>
            </a:pPr>
            <a:r>
              <a:rPr lang="en-US" sz="1100" dirty="0">
                <a:solidFill>
                  <a:srgbClr val="9AA3AF"/>
                </a:solidFill>
                <a:latin typeface="Inter" pitchFamily="34" charset="0"/>
                <a:ea typeface="Inter" pitchFamily="34" charset="-122"/>
                <a:cs typeface="Inter" pitchFamily="34" charset="-120"/>
              </a:rPr>
              <a:t>60 days, zero false BROKEN</a:t>
            </a:r>
            <a:endParaRPr lang="en-US" sz="1100" dirty="0"/>
          </a:p>
        </p:txBody>
      </p:sp>
      <p:sp>
        <p:nvSpPr>
          <p:cNvPr id="26" name="Shape 24"/>
          <p:cNvSpPr/>
          <p:nvPr/>
        </p:nvSpPr>
        <p:spPr>
          <a:xfrm>
            <a:off x="8212684" y="2752344"/>
            <a:ext cx="201168" cy="201168"/>
          </a:xfrm>
          <a:prstGeom prst="ellipse">
            <a:avLst/>
          </a:prstGeom>
          <a:solidFill>
            <a:srgbClr val="12151A"/>
          </a:solidFill>
          <a:ln w="19050">
            <a:solidFill>
              <a:srgbClr val="3A4350"/>
            </a:solidFill>
            <a:prstDash val="solid"/>
          </a:ln>
        </p:spPr>
      </p:sp>
      <p:sp>
        <p:nvSpPr>
          <p:cNvPr id="27" name="Text 25"/>
          <p:cNvSpPr txBox="1"/>
          <p:nvPr/>
        </p:nvSpPr>
        <p:spPr>
          <a:xfrm>
            <a:off x="7747894" y="3090672"/>
            <a:ext cx="1130747" cy="274320"/>
          </a:xfrm>
          <a:prstGeom prst="rect">
            <a:avLst/>
          </a:prstGeom>
          <a:noFill/>
          <a:ln/>
        </p:spPr>
        <p:txBody>
          <a:bodyPr wrap="square" lIns="0" tIns="0" rIns="0" bIns="0" rtlCol="0" anchor="t"/>
          <a:lstStyle/>
          <a:p>
            <a:pPr algn="ctr" indent="0" marL="0">
              <a:lnSpc>
                <a:spcPct val="112000"/>
              </a:lnSpc>
              <a:buNone/>
            </a:pPr>
            <a:r>
              <a:rPr lang="en-US" sz="1500" dirty="0">
                <a:solidFill>
                  <a:srgbClr val="9AA3AF"/>
                </a:solidFill>
                <a:latin typeface="Inter SemiBold" pitchFamily="34" charset="0"/>
                <a:ea typeface="Inter SemiBold" pitchFamily="34" charset="-122"/>
                <a:cs typeface="Inter SemiBold" pitchFamily="34" charset="-120"/>
              </a:rPr>
              <a:t>Enforce</a:t>
            </a:r>
            <a:endParaRPr lang="en-US" sz="1500" dirty="0"/>
          </a:p>
        </p:txBody>
      </p:sp>
      <p:sp>
        <p:nvSpPr>
          <p:cNvPr id="28" name="Text 26"/>
          <p:cNvSpPr txBox="1"/>
          <p:nvPr/>
        </p:nvSpPr>
        <p:spPr>
          <a:xfrm>
            <a:off x="7747894" y="3383280"/>
            <a:ext cx="1130747" cy="201168"/>
          </a:xfrm>
          <a:prstGeom prst="rect">
            <a:avLst/>
          </a:prstGeom>
          <a:noFill/>
          <a:ln/>
        </p:spPr>
        <p:txBody>
          <a:bodyPr wrap="square" lIns="0" tIns="0" rIns="0" bIns="0" rtlCol="0" anchor="t"/>
          <a:lstStyle/>
          <a:p>
            <a:pPr algn="ctr"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MONTHS 4 TO 6</a:t>
            </a:r>
            <a:endParaRPr lang="en-US" sz="1000" dirty="0"/>
          </a:p>
        </p:txBody>
      </p:sp>
      <p:sp>
        <p:nvSpPr>
          <p:cNvPr id="29" name="Text 27"/>
          <p:cNvSpPr txBox="1"/>
          <p:nvPr/>
        </p:nvSpPr>
        <p:spPr>
          <a:xfrm>
            <a:off x="7747894" y="3621024"/>
            <a:ext cx="1130747" cy="475488"/>
          </a:xfrm>
          <a:prstGeom prst="rect">
            <a:avLst/>
          </a:prstGeom>
          <a:noFill/>
          <a:ln/>
        </p:spPr>
        <p:txBody>
          <a:bodyPr wrap="square" lIns="0" tIns="0" rIns="0" bIns="0" rtlCol="0" anchor="t"/>
          <a:lstStyle/>
          <a:p>
            <a:pPr algn="ctr" indent="0" marL="0">
              <a:lnSpc>
                <a:spcPct val="108000"/>
              </a:lnSpc>
              <a:buNone/>
            </a:pPr>
            <a:r>
              <a:rPr lang="en-US" sz="1100" dirty="0">
                <a:solidFill>
                  <a:srgbClr val="7D8693"/>
                </a:solidFill>
                <a:latin typeface="Inter" pitchFamily="34" charset="0"/>
                <a:ea typeface="Inter" pitchFamily="34" charset="-122"/>
                <a:cs typeface="Inter" pitchFamily="34" charset="-120"/>
              </a:rPr>
              <a:t>4-cell committee, first enforced token</a:t>
            </a:r>
            <a:endParaRPr lang="en-US" sz="1100" dirty="0"/>
          </a:p>
        </p:txBody>
      </p:sp>
      <p:sp>
        <p:nvSpPr>
          <p:cNvPr id="30" name="Shape 28"/>
          <p:cNvSpPr/>
          <p:nvPr/>
        </p:nvSpPr>
        <p:spPr>
          <a:xfrm>
            <a:off x="9453159" y="2752344"/>
            <a:ext cx="201168" cy="201168"/>
          </a:xfrm>
          <a:prstGeom prst="ellipse">
            <a:avLst/>
          </a:prstGeom>
          <a:solidFill>
            <a:srgbClr val="12151A"/>
          </a:solidFill>
          <a:ln w="19050">
            <a:solidFill>
              <a:srgbClr val="3A4350"/>
            </a:solidFill>
            <a:prstDash val="solid"/>
          </a:ln>
        </p:spPr>
      </p:sp>
      <p:sp>
        <p:nvSpPr>
          <p:cNvPr id="31" name="Text 29"/>
          <p:cNvSpPr txBox="1"/>
          <p:nvPr/>
        </p:nvSpPr>
        <p:spPr>
          <a:xfrm>
            <a:off x="8988369" y="3090672"/>
            <a:ext cx="1130747" cy="274320"/>
          </a:xfrm>
          <a:prstGeom prst="rect">
            <a:avLst/>
          </a:prstGeom>
          <a:noFill/>
          <a:ln/>
        </p:spPr>
        <p:txBody>
          <a:bodyPr wrap="square" lIns="0" tIns="0" rIns="0" bIns="0" rtlCol="0" anchor="t"/>
          <a:lstStyle/>
          <a:p>
            <a:pPr algn="ctr" indent="0" marL="0">
              <a:lnSpc>
                <a:spcPct val="112000"/>
              </a:lnSpc>
              <a:buNone/>
            </a:pPr>
            <a:r>
              <a:rPr lang="en-US" sz="1500" dirty="0">
                <a:solidFill>
                  <a:srgbClr val="9AA3AF"/>
                </a:solidFill>
                <a:latin typeface="Inter SemiBold" pitchFamily="34" charset="0"/>
                <a:ea typeface="Inter SemiBold" pitchFamily="34" charset="-122"/>
                <a:cs typeface="Inter SemiBold" pitchFamily="34" charset="-120"/>
              </a:rPr>
              <a:t>Feed</a:t>
            </a:r>
            <a:endParaRPr lang="en-US" sz="1500" dirty="0"/>
          </a:p>
        </p:txBody>
      </p:sp>
      <p:sp>
        <p:nvSpPr>
          <p:cNvPr id="32" name="Text 30"/>
          <p:cNvSpPr txBox="1"/>
          <p:nvPr/>
        </p:nvSpPr>
        <p:spPr>
          <a:xfrm>
            <a:off x="8988369" y="3383280"/>
            <a:ext cx="1130747" cy="201168"/>
          </a:xfrm>
          <a:prstGeom prst="rect">
            <a:avLst/>
          </a:prstGeom>
          <a:noFill/>
          <a:ln/>
        </p:spPr>
        <p:txBody>
          <a:bodyPr wrap="square" lIns="0" tIns="0" rIns="0" bIns="0" rtlCol="0" anchor="t"/>
          <a:lstStyle/>
          <a:p>
            <a:pPr algn="ctr"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MONTHS 6 TO 9</a:t>
            </a:r>
            <a:endParaRPr lang="en-US" sz="1000" dirty="0"/>
          </a:p>
        </p:txBody>
      </p:sp>
      <p:sp>
        <p:nvSpPr>
          <p:cNvPr id="33" name="Text 31"/>
          <p:cNvSpPr txBox="1"/>
          <p:nvPr/>
        </p:nvSpPr>
        <p:spPr>
          <a:xfrm>
            <a:off x="8988369" y="3621024"/>
            <a:ext cx="1130747" cy="475488"/>
          </a:xfrm>
          <a:prstGeom prst="rect">
            <a:avLst/>
          </a:prstGeom>
          <a:noFill/>
          <a:ln/>
        </p:spPr>
        <p:txBody>
          <a:bodyPr wrap="square" lIns="0" tIns="0" rIns="0" bIns="0" rtlCol="0" anchor="t"/>
          <a:lstStyle/>
          <a:p>
            <a:pPr algn="ctr" indent="0" marL="0">
              <a:lnSpc>
                <a:spcPct val="108000"/>
              </a:lnSpc>
              <a:buNone/>
            </a:pPr>
            <a:r>
              <a:rPr lang="en-US" sz="1100" dirty="0">
                <a:solidFill>
                  <a:srgbClr val="7D8693"/>
                </a:solidFill>
                <a:latin typeface="Inter" pitchFamily="34" charset="0"/>
                <a:ea typeface="Inter" pitchFamily="34" charset="-122"/>
                <a:cs typeface="Inter" pitchFamily="34" charset="-120"/>
              </a:rPr>
              <a:t>3 money markets read it</a:t>
            </a:r>
            <a:endParaRPr lang="en-US" sz="1100" dirty="0"/>
          </a:p>
        </p:txBody>
      </p:sp>
      <p:sp>
        <p:nvSpPr>
          <p:cNvPr id="34" name="Shape 32"/>
          <p:cNvSpPr/>
          <p:nvPr/>
        </p:nvSpPr>
        <p:spPr>
          <a:xfrm>
            <a:off x="10693634" y="2752344"/>
            <a:ext cx="201168" cy="201168"/>
          </a:xfrm>
          <a:prstGeom prst="ellipse">
            <a:avLst/>
          </a:prstGeom>
          <a:solidFill>
            <a:srgbClr val="12151A"/>
          </a:solidFill>
          <a:ln w="19050">
            <a:solidFill>
              <a:srgbClr val="3A4350"/>
            </a:solidFill>
            <a:prstDash val="solid"/>
          </a:ln>
        </p:spPr>
      </p:sp>
      <p:sp>
        <p:nvSpPr>
          <p:cNvPr id="35" name="Text 33"/>
          <p:cNvSpPr txBox="1"/>
          <p:nvPr/>
        </p:nvSpPr>
        <p:spPr>
          <a:xfrm>
            <a:off x="10228844" y="3090672"/>
            <a:ext cx="1130747" cy="274320"/>
          </a:xfrm>
          <a:prstGeom prst="rect">
            <a:avLst/>
          </a:prstGeom>
          <a:noFill/>
          <a:ln/>
        </p:spPr>
        <p:txBody>
          <a:bodyPr wrap="square" lIns="0" tIns="0" rIns="0" bIns="0" rtlCol="0" anchor="t"/>
          <a:lstStyle/>
          <a:p>
            <a:pPr algn="ctr" indent="0" marL="0">
              <a:lnSpc>
                <a:spcPct val="112000"/>
              </a:lnSpc>
              <a:buNone/>
            </a:pPr>
            <a:r>
              <a:rPr lang="en-US" sz="1500" dirty="0">
                <a:solidFill>
                  <a:srgbClr val="9AA3AF"/>
                </a:solidFill>
                <a:latin typeface="Inter SemiBold" pitchFamily="34" charset="0"/>
                <a:ea typeface="Inter SemiBold" pitchFamily="34" charset="-122"/>
                <a:cs typeface="Inter SemiBold" pitchFamily="34" charset="-120"/>
              </a:rPr>
              <a:t>Institutional</a:t>
            </a:r>
            <a:endParaRPr lang="en-US" sz="1500" dirty="0"/>
          </a:p>
        </p:txBody>
      </p:sp>
      <p:sp>
        <p:nvSpPr>
          <p:cNvPr id="36" name="Text 34"/>
          <p:cNvSpPr txBox="1"/>
          <p:nvPr/>
        </p:nvSpPr>
        <p:spPr>
          <a:xfrm>
            <a:off x="10228844" y="3383280"/>
            <a:ext cx="1130747" cy="201168"/>
          </a:xfrm>
          <a:prstGeom prst="rect">
            <a:avLst/>
          </a:prstGeom>
          <a:noFill/>
          <a:ln/>
        </p:spPr>
        <p:txBody>
          <a:bodyPr wrap="square" lIns="0" tIns="0" rIns="0" bIns="0" rtlCol="0" anchor="t"/>
          <a:lstStyle/>
          <a:p>
            <a:pPr algn="ctr"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MONTHS 9 TO 12</a:t>
            </a:r>
            <a:endParaRPr lang="en-US" sz="1000" dirty="0"/>
          </a:p>
        </p:txBody>
      </p:sp>
      <p:sp>
        <p:nvSpPr>
          <p:cNvPr id="37" name="Text 35"/>
          <p:cNvSpPr txBox="1"/>
          <p:nvPr/>
        </p:nvSpPr>
        <p:spPr>
          <a:xfrm>
            <a:off x="10228844" y="3621024"/>
            <a:ext cx="1130747" cy="475488"/>
          </a:xfrm>
          <a:prstGeom prst="rect">
            <a:avLst/>
          </a:prstGeom>
          <a:noFill/>
          <a:ln/>
        </p:spPr>
        <p:txBody>
          <a:bodyPr wrap="square" lIns="0" tIns="0" rIns="0" bIns="0" rtlCol="0" anchor="t"/>
          <a:lstStyle/>
          <a:p>
            <a:pPr algn="ctr" indent="0" marL="0">
              <a:lnSpc>
                <a:spcPct val="108000"/>
              </a:lnSpc>
              <a:buNone/>
            </a:pPr>
            <a:r>
              <a:rPr lang="en-US" sz="1100" dirty="0">
                <a:solidFill>
                  <a:srgbClr val="7D8693"/>
                </a:solidFill>
                <a:latin typeface="Inter" pitchFamily="34" charset="0"/>
                <a:ea typeface="Inter" pitchFamily="34" charset="-122"/>
                <a:cs typeface="Inter" pitchFamily="34" charset="-120"/>
              </a:rPr>
              <a:t>First institutional issuer</a:t>
            </a:r>
            <a:endParaRPr lang="en-US" sz="1100" dirty="0"/>
          </a:p>
        </p:txBody>
      </p:sp>
      <p:sp>
        <p:nvSpPr>
          <p:cNvPr id="38" name="Team"/>
          <p:cNvSpPr/>
          <p:nvPr/>
        </p:nvSpPr>
        <p:spPr>
          <a:xfrm>
            <a:off x="548640" y="4507992"/>
            <a:ext cx="4160520" cy="1636776"/>
          </a:xfrm>
          <a:prstGeom prst="roundRect">
            <a:avLst>
              <a:gd name="adj" fmla="val 7821"/>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39" name="Text 37"/>
          <p:cNvSpPr txBox="1"/>
          <p:nvPr/>
        </p:nvSpPr>
        <p:spPr>
          <a:xfrm>
            <a:off x="868680" y="4745736"/>
            <a:ext cx="1828800" cy="201168"/>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9AA3AF"/>
                </a:solidFill>
                <a:latin typeface="JetBrains Mono" pitchFamily="34" charset="0"/>
                <a:ea typeface="JetBrains Mono" pitchFamily="34" charset="-122"/>
                <a:cs typeface="JetBrains Mono" pitchFamily="34" charset="-120"/>
              </a:rPr>
              <a:t>TEAM</a:t>
            </a:r>
            <a:endParaRPr lang="en-US" sz="1000" dirty="0"/>
          </a:p>
        </p:txBody>
      </p:sp>
      <p:sp>
        <p:nvSpPr>
          <p:cNvPr id="40" name="Text 38"/>
          <p:cNvSpPr txBox="1"/>
          <p:nvPr/>
        </p:nvSpPr>
        <p:spPr>
          <a:xfrm>
            <a:off x="868680" y="5020056"/>
            <a:ext cx="3520440" cy="274320"/>
          </a:xfrm>
          <a:prstGeom prst="rect">
            <a:avLst/>
          </a:prstGeom>
          <a:noFill/>
          <a:ln/>
        </p:spPr>
        <p:txBody>
          <a:bodyPr wrap="square" lIns="0" tIns="0" rIns="0" bIns="0" rtlCol="0" anchor="t"/>
          <a:lstStyle/>
          <a:p>
            <a:pPr algn="l" indent="0" marL="0">
              <a:lnSpc>
                <a:spcPct val="112000"/>
              </a:lnSpc>
              <a:buNone/>
            </a:pPr>
            <a:r>
              <a:rPr lang="en-US" sz="1500" dirty="0">
                <a:solidFill>
                  <a:srgbClr val="E7EAEE"/>
                </a:solidFill>
                <a:latin typeface="Inter SemiBold" pitchFamily="34" charset="0"/>
                <a:ea typeface="Inter SemiBold" pitchFamily="34" charset="-122"/>
                <a:cs typeface="Inter SemiBold" pitchFamily="34" charset="-120"/>
              </a:rPr>
              <a:t>Built in 36 hours at TOKEN2049</a:t>
            </a:r>
            <a:endParaRPr lang="en-US" sz="1500" dirty="0"/>
          </a:p>
        </p:txBody>
      </p:sp>
      <p:sp>
        <p:nvSpPr>
          <p:cNvPr id="41" name="Text 39"/>
          <p:cNvSpPr txBox="1"/>
          <p:nvPr/>
        </p:nvSpPr>
        <p:spPr>
          <a:xfrm>
            <a:off x="868680" y="5367528"/>
            <a:ext cx="3520440" cy="685800"/>
          </a:xfrm>
          <a:prstGeom prst="rect">
            <a:avLst/>
          </a:prstGeom>
          <a:noFill/>
          <a:ln/>
        </p:spPr>
        <p:txBody>
          <a:bodyPr wrap="square" lIns="0" tIns="0" rIns="0" bIns="0" rtlCol="0" anchor="t"/>
          <a:lstStyle/>
          <a:p>
            <a:pPr algn="l" indent="0" marL="0">
              <a:lnSpc>
                <a:spcPct val="112000"/>
              </a:lnSpc>
              <a:buNone/>
            </a:pPr>
            <a:r>
              <a:rPr lang="en-US" sz="1400" dirty="0">
                <a:solidFill>
                  <a:srgbClr val="9AA3AF"/>
                </a:solidFill>
                <a:latin typeface="Inter" pitchFamily="34" charset="0"/>
                <a:ea typeface="Inter" pitchFamily="34" charset="-122"/>
                <a:cs typeface="Inter" pitchFamily="34" charset="-120"/>
              </a:rPr>
              <a:t>350 of 466 PRD requirements done</a:t>
            </a:r>
            <a:endParaRPr lang="en-US" sz="1400" dirty="0"/>
          </a:p>
          <a:p>
            <a:pPr algn="l" indent="0" marL="0">
              <a:lnSpc>
                <a:spcPct val="112000"/>
              </a:lnSpc>
              <a:buNone/>
            </a:pPr>
            <a:r>
              <a:rPr lang="en-US" sz="1400" dirty="0">
                <a:solidFill>
                  <a:srgbClr val="9AA3AF"/>
                </a:solidFill>
                <a:latin typeface="Inter" pitchFamily="34" charset="0"/>
                <a:ea typeface="Inter" pitchFamily="34" charset="-122"/>
                <a:cs typeface="Inter" pitchFamily="34" charset="-120"/>
              </a:rPr>
              <a:t>150 Foundry + 463 TypeScript tests pass</a:t>
            </a:r>
            <a:endParaRPr lang="en-US" sz="1400" dirty="0"/>
          </a:p>
        </p:txBody>
      </p:sp>
      <p:sp>
        <p:nvSpPr>
          <p:cNvPr id="42" name="Ask"/>
          <p:cNvSpPr/>
          <p:nvPr/>
        </p:nvSpPr>
        <p:spPr>
          <a:xfrm>
            <a:off x="4983480" y="4507992"/>
            <a:ext cx="6659575" cy="1636776"/>
          </a:xfrm>
          <a:prstGeom prst="roundRect">
            <a:avLst>
              <a:gd name="adj" fmla="val 7821"/>
            </a:avLst>
          </a:prstGeom>
          <a:solidFill>
            <a:srgbClr val="0F2A28"/>
          </a:solidFill>
          <a:ln w="9525">
            <a:solidFill>
              <a:srgbClr val="1C5F57"/>
            </a:solidFill>
            <a:prstDash val="solid"/>
          </a:ln>
          <a:effectLst>
            <a:outerShdw sx="100000" sy="100000" kx="0" ky="0" algn="bl" rotWithShape="0" blurRad="177800" dist="50800" dir="5400000">
              <a:srgbClr val="000000">
                <a:alpha val="45000"/>
              </a:srgbClr>
            </a:outerShdw>
          </a:effectLst>
        </p:spPr>
      </p:sp>
      <p:sp>
        <p:nvSpPr>
          <p:cNvPr id="43" name="Text 41"/>
          <p:cNvSpPr txBox="1"/>
          <p:nvPr/>
        </p:nvSpPr>
        <p:spPr>
          <a:xfrm>
            <a:off x="5303520" y="4745736"/>
            <a:ext cx="1828800" cy="201168"/>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2DD4BF"/>
                </a:solidFill>
                <a:latin typeface="JetBrains Mono" pitchFamily="34" charset="0"/>
                <a:ea typeface="JetBrains Mono" pitchFamily="34" charset="-122"/>
                <a:cs typeface="JetBrains Mono" pitchFamily="34" charset="-120"/>
              </a:rPr>
              <a:t>THE ASK</a:t>
            </a:r>
            <a:endParaRPr lang="en-US" sz="1000" dirty="0"/>
          </a:p>
        </p:txBody>
      </p:sp>
      <p:sp>
        <p:nvSpPr>
          <p:cNvPr id="44" name="Text 42"/>
          <p:cNvSpPr txBox="1"/>
          <p:nvPr/>
        </p:nvSpPr>
        <p:spPr>
          <a:xfrm>
            <a:off x="5303520" y="5056632"/>
            <a:ext cx="6019495" cy="292608"/>
          </a:xfrm>
          <a:prstGeom prst="rect">
            <a:avLst/>
          </a:prstGeom>
          <a:noFill/>
          <a:ln/>
        </p:spPr>
        <p:txBody>
          <a:bodyPr wrap="square" lIns="0" tIns="0" rIns="0" bIns="0" rtlCol="0" anchor="ctr"/>
          <a:lstStyle/>
          <a:p>
            <a:pPr algn="l" indent="0" marL="0">
              <a:lnSpc>
                <a:spcPct val="112000"/>
              </a:lnSpc>
              <a:buNone/>
            </a:pPr>
            <a:r>
              <a:rPr lang="en-US" sz="1500" dirty="0">
                <a:solidFill>
                  <a:srgbClr val="2DD4BF"/>
                </a:solidFill>
                <a:latin typeface="Inter SemiBold" pitchFamily="34" charset="0"/>
                <a:ea typeface="Inter SemiBold" pitchFamily="34" charset="-122"/>
                <a:cs typeface="Inter SemiBold" pitchFamily="34" charset="-120"/>
              </a:rPr>
              <a:t>Chainlink  </a:t>
            </a:r>
            <a:pPr algn="l" indent="0" marL="0">
              <a:lnSpc>
                <a:spcPct val="112000"/>
              </a:lnSpc>
              <a:buNone/>
            </a:pPr>
            <a:r>
              <a:rPr lang="en-US" sz="1500" dirty="0">
                <a:solidFill>
                  <a:srgbClr val="E7EAEE"/>
                </a:solidFill>
                <a:latin typeface="Inter" pitchFamily="34" charset="0"/>
                <a:ea typeface="Inter" pitchFamily="34" charset="-122"/>
                <a:cs typeface="Inter" pitchFamily="34" charset="-120"/>
              </a:rPr>
              <a:t>CCV marketplace onboarding, CRE deploy access</a:t>
            </a:r>
            <a:endParaRPr lang="en-US" sz="1500" dirty="0"/>
          </a:p>
        </p:txBody>
      </p:sp>
      <p:sp>
        <p:nvSpPr>
          <p:cNvPr id="45" name="Text 43"/>
          <p:cNvSpPr txBox="1"/>
          <p:nvPr/>
        </p:nvSpPr>
        <p:spPr>
          <a:xfrm>
            <a:off x="5303520" y="5385816"/>
            <a:ext cx="6019495" cy="292608"/>
          </a:xfrm>
          <a:prstGeom prst="rect">
            <a:avLst/>
          </a:prstGeom>
          <a:noFill/>
          <a:ln/>
        </p:spPr>
        <p:txBody>
          <a:bodyPr wrap="square" lIns="0" tIns="0" rIns="0" bIns="0" rtlCol="0" anchor="ctr"/>
          <a:lstStyle/>
          <a:p>
            <a:pPr algn="l" indent="0" marL="0">
              <a:lnSpc>
                <a:spcPct val="112000"/>
              </a:lnSpc>
              <a:buNone/>
            </a:pPr>
            <a:r>
              <a:rPr lang="en-US" sz="1500" dirty="0">
                <a:solidFill>
                  <a:srgbClr val="2DD4BF"/>
                </a:solidFill>
                <a:latin typeface="Inter SemiBold" pitchFamily="34" charset="0"/>
                <a:ea typeface="Inter SemiBold" pitchFamily="34" charset="-122"/>
                <a:cs typeface="Inter SemiBold" pitchFamily="34" charset="-120"/>
              </a:rPr>
              <a:t>Issuers  </a:t>
            </a:r>
            <a:pPr algn="l" indent="0" marL="0">
              <a:lnSpc>
                <a:spcPct val="112000"/>
              </a:lnSpc>
              <a:buNone/>
            </a:pPr>
            <a:r>
              <a:rPr lang="en-US" sz="1500" dirty="0">
                <a:solidFill>
                  <a:srgbClr val="E7EAEE"/>
                </a:solidFill>
                <a:latin typeface="Inter" pitchFamily="34" charset="0"/>
                <a:ea typeface="Inter" pitchFamily="34" charset="-122"/>
                <a:cs typeface="Inter" pitchFamily="34" charset="-120"/>
              </a:rPr>
              <a:t>2 design partners: LRT, LST, wrapped BTC</a:t>
            </a:r>
            <a:endParaRPr lang="en-US" sz="1500" dirty="0"/>
          </a:p>
        </p:txBody>
      </p:sp>
      <p:sp>
        <p:nvSpPr>
          <p:cNvPr id="46" name="Text 44"/>
          <p:cNvSpPr txBox="1"/>
          <p:nvPr/>
        </p:nvSpPr>
        <p:spPr>
          <a:xfrm>
            <a:off x="5303520" y="5715000"/>
            <a:ext cx="6019495" cy="292608"/>
          </a:xfrm>
          <a:prstGeom prst="rect">
            <a:avLst/>
          </a:prstGeom>
          <a:noFill/>
          <a:ln/>
        </p:spPr>
        <p:txBody>
          <a:bodyPr wrap="square" lIns="0" tIns="0" rIns="0" bIns="0" rtlCol="0" anchor="ctr"/>
          <a:lstStyle/>
          <a:p>
            <a:pPr algn="l" indent="0" marL="0">
              <a:lnSpc>
                <a:spcPct val="112000"/>
              </a:lnSpc>
              <a:buNone/>
            </a:pPr>
            <a:r>
              <a:rPr lang="en-US" sz="1500" dirty="0">
                <a:solidFill>
                  <a:srgbClr val="2DD4BF"/>
                </a:solidFill>
                <a:latin typeface="Inter SemiBold" pitchFamily="34" charset="0"/>
                <a:ea typeface="Inter SemiBold" pitchFamily="34" charset="-122"/>
                <a:cs typeface="Inter SemiBold" pitchFamily="34" charset="-120"/>
              </a:rPr>
              <a:t>Lending markets  </a:t>
            </a:r>
            <a:pPr algn="l" indent="0" marL="0">
              <a:lnSpc>
                <a:spcPct val="112000"/>
              </a:lnSpc>
              <a:buNone/>
            </a:pPr>
            <a:r>
              <a:rPr lang="en-US" sz="1500" dirty="0">
                <a:solidFill>
                  <a:srgbClr val="E7EAEE"/>
                </a:solidFill>
                <a:latin typeface="Inter" pitchFamily="34" charset="0"/>
                <a:ea typeface="Inter" pitchFamily="34" charset="-122"/>
                <a:cs typeface="Inter" pitchFamily="34" charset="-120"/>
              </a:rPr>
              <a:t>read the feed, freeze on BROKEN</a:t>
            </a:r>
            <a:endParaRPr lang="en-US" sz="1500" dirty="0"/>
          </a:p>
        </p:txBody>
      </p:sp>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KIRCHHOFF Control Room">
  <a:themeElements>
    <a:clrScheme name="KIRCHHOFF Control Room">
      <a:dk1>
        <a:srgbClr val="E7EAEE"/>
      </a:dk1>
      <a:lt1>
        <a:srgbClr val="0B0D10"/>
      </a:lt1>
      <a:dk2>
        <a:srgbClr val="9AA3AF"/>
      </a:dk2>
      <a:lt2>
        <a:srgbClr val="12151A"/>
      </a:lt2>
      <a:accent1>
        <a:srgbClr val="2DD4BF"/>
      </a:accent1>
      <a:accent2>
        <a:srgbClr val="F43F5E"/>
      </a:accent2>
      <a:accent3>
        <a:srgbClr val="A78BFA"/>
      </a:accent3>
      <a:accent4>
        <a:srgbClr val="FBBF24"/>
      </a:accent4>
      <a:accent5>
        <a:srgbClr val="60A5FA"/>
      </a:accent5>
      <a:accent6>
        <a:srgbClr val="7D8693"/>
      </a:accent6>
      <a:hlink>
        <a:srgbClr val="2DD4BF"/>
      </a:hlink>
      <a:folHlink>
        <a:srgbClr val="A78BFA"/>
      </a:folHlink>
    </a:clrScheme>
    <a:fontScheme name="KIRCHHOFF Control Room">
      <a:majorFont>
        <a:latin typeface="Inter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KIRCHHOFF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KIRCHHOFF</dc:title>
  <dc:subject>Conservation verifier for Chainlink CCIP 2.0, TOKEN2049 Origins stage deck</dc:subject>
  <dc:creator>KIRCHHOFF</dc:creator>
  <cp:lastModifiedBy>KIRCHHOFF</cp:lastModifiedBy>
  <cp:revision>1</cp:revision>
  <dcterms:created xsi:type="dcterms:W3CDTF">2026-10-05T19:04:40Z</dcterms:created>
  <dcterms:modified xsi:type="dcterms:W3CDTF">2026-10-05T19:04:40Z</dcterms:modified>
</cp:coreProperties>
</file>